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Default Extension="jpe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GoogleSansFlexMedium-regular.fntdata"/><Relationship Id="rId21" Type="http://schemas.openxmlformats.org/officeDocument/2006/relationships/slide" Target="slides/slide16.xml"/><Relationship Id="rId24" Type="http://schemas.openxmlformats.org/officeDocument/2006/relationships/font" Target="fonts/GoogleSansFlex-regular.fntdata"/><Relationship Id="rId23" Type="http://schemas.openxmlformats.org/officeDocument/2006/relationships/font" Target="fonts/GoogleSansFlex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oogleSansFlexSemiBold-regular.fntdata"/><Relationship Id="rId25" Type="http://schemas.openxmlformats.org/officeDocument/2006/relationships/font" Target="fonts/GoogleSansFlex-bold.fntdata"/><Relationship Id="rId27" Type="http://schemas.openxmlformats.org/officeDocument/2006/relationships/font" Target="fonts/GoogleSansFlexSemi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Team identity and project name from the supplied v6 presentation.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p="http://schemas.openxmlformats.org/presentationml/2006/main"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Source: supplied Teach Milo v6 deck and https://github.com/kyawoo-23/teach-milo. Product claims describe the prototype, not measured learning gains. Learning benefits remain a product hypothesis pending learner evaluation.</a:t>
            </a:r>
            <a:endParaRPr/>
          </a:p>
        </p:txBody>
      </p:sp>
    </p:spTree>
  </p:cSld>
  <p:clrMapOvr>
    <a:masterClrMapping/>
  </p:clrMapOvr>
</p:notes>
</file>

<file path=ppt/notesSlides/notesSlide4.xml><?xml version="1.0" encoding="utf-8"?>
<p:notes xmlns:a="http://schemas.openxmlformats.org/drawingml/2006/main" xmlns:p="http://schemas.openxmlformats.org/presentationml/2006/main"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Source: supplied Teach Milo v6 deck and https://github.com/kyawoo-23/teach-milo. Product claims describe the prototype, not measured learning gains. Category comparison, not a market-first claim or measured competitor comparison.</a:t>
            </a:r>
            <a:endParaRPr/>
          </a:p>
        </p:txBody>
      </p:sp>
    </p:spTree>
  </p:cSld>
  <p:clrMapOvr>
    <a:masterClrMapping/>
  </p:clrMapOvr>
</p:notes>
</file>

<file path=ppt/notesSlides/notesSlide5.xml><?xml version="1.0" encoding="utf-8"?>
<p:notes xmlns:a="http://schemas.openxmlformats.org/drawingml/2006/main"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Source: supplied Teach Milo v6 deck and https://github.com/kyawoo-23/teach-milo. Product claims describe the prototype, not measured learning gains. No accessibility certification or formal reliability claim. Original uploaded file bytes are not retained.</a:t>
            </a:r>
            <a:endParaRPr/>
          </a:p>
        </p:txBody>
      </p:sp>
    </p:spTree>
  </p:cSld>
  <p:clrMapOvr>
    <a:masterClrMapping/>
  </p:clrMapOvr>
</p:notes>
</file>

<file path=ppt/notesSlides/notesSlide6.xml><?xml version="1.0" encoding="utf-8"?>
<p:notes xmlns:a="http://schemas.openxmlformats.org/drawingml/2006/main"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Source: supplied Teach Milo v6 deck and https://github.com/kyawoo-23/teach-milo. Product claims describe the prototype, not measured learning gains. Editable process flow. Readiness uses the cumulative evidence ledger, not Milo’s tone.</a:t>
            </a:r>
            <a:endParaRPr/>
          </a:p>
        </p:txBody>
      </p:sp>
    </p:spTree>
  </p:cSld>
  <p:clrMapOvr>
    <a:masterClrMapping/>
  </p:clrMapOvr>
</p:notes>
</file>

<file path=ppt/notesSlides/notesSlide7.xml><?xml version="1.0" encoding="utf-8"?>
<p:notes xmlns:a="http://schemas.openxmlformats.org/drawingml/2006/main"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Source: supplied Teach Milo v6 deck and https://github.com/kyawoo-23/teach-milo. Product claims describe the prototype, not measured learning gains. These are editable schematic wireframes. Wording is illustrative, not a usability result.</a:t>
            </a:r>
            <a:endParaRPr/>
          </a:p>
        </p:txBody>
      </p:sp>
    </p:spTree>
  </p:cSld>
  <p:clrMapOvr>
    <a:masterClrMapping/>
  </p:clrMapOvr>
</p:notes>
</file>

<file path=ppt/notesSlides/notesSlide8.xml><?xml version="1.0" encoding="utf-8"?>
<p:notes xmlns:a="http://schemas.openxmlformats.org/drawingml/2006/main"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Source: supplied Teach Milo v6 deck and https://github.com/kyawoo-23/teach-milo. Product claims describe the prototype, not measured learning gains. Architecture from cloudbuild.yaml and src/server/model.ts. Gemini Developer API uses server-side key authentication. Native editable nodes and connections. This is not a load-test result.</a:t>
            </a:r>
            <a:endParaRPr/>
          </a:p>
        </p:txBody>
      </p:sp>
    </p:spTree>
  </p:cSld>
  <p:clrMapOvr>
    <a:masterClrMapping/>
  </p:clrMapOvr>
</p:notes>
</file>

<file path=ppt/notesSlides/notesSlide9.xml><?xml version="1.0" encoding="utf-8"?>
<p:notes xmlns:a="http://schemas.openxmlformats.org/drawingml/2006/main"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Source: supplied Teach Milo v6 deck and https://github.com/kyawoo-23/teach-milo. Product claims describe the prototype, not measured learning gains. No claim of Vertex AI, Imagen, Veo, Translation API, BigQuery or Cloud Storage integration.</a:t>
            </a:r>
            <a:endParaRPr/>
          </a:p>
        </p:txBody>
      </p:sp>
    </p:spTree>
  </p:cSld>
  <p:clrMapOvr>
    <a:masterClrMapping/>
  </p:clrMapOvr>
</p:notes>
</file>

<file path=ppt/notesSlides/notesSlide10.xml><?xml version="1.0" encoding="utf-8"?>
<p:notes xmlns:a="http://schemas.openxmlformats.org/drawingml/2006/main"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Published standard pricing verified 18 October 2026: https://ai.google.dev/gemini-api/docs/pricing#gemini-3.5-flash-lite . Free tier input/output are free within eligible quota. Standard paid input US$0.30/M, output including thinking US$2.50/M. Formula: 1,000 × 12 × 1,500 = 18M input, 1,000 × 12 × 450 = 5.4M output. The prior US$0.0269/session claim lacks supporting logs and is not retained as a measured session cost. No claim of actual monthly billing or higher account quotas.</a:t>
            </a:r>
            <a:endParaRPr/>
          </a:p>
        </p:txBody>
      </p:sp>
    </p:spTree>
  </p:cSld>
  <p:clrMapOvr>
    <a:masterClrMapping/>
  </p:clrMapOvr>
</p:notes>
</file>

<file path=ppt/notesSlides/notesSlide11.xml><?xml version="1.0" encoding="utf-8"?>
<p:notes xmlns:a="http://schemas.openxmlformats.org/drawingml/2006/main"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Original prototype screenshot assets reused from supplied v6 slides 12 and 16. The source deck describes production captures and agent-authored sample learner answers. These images demonstrate the workflow, not general accuracy, learning gains or latency.</a:t>
            </a:r>
            <a:endParaRPr/>
          </a:p>
        </p:txBody>
      </p:sp>
    </p:spTree>
  </p:cSld>
  <p:clrMapOvr>
    <a:masterClrMapping/>
  </p:clrMapOvr>
</p:notes>
</file>

<file path=ppt/notesSlides/notesSlide12.xml><?xml version="1.0" encoding="utf-8"?>
<p:notes xmlns:a="http://schemas.openxmlformats.org/drawingml/2006/main"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MEASURED GEMINI COMPONENT BENCHMARK</a:t>
            </a:r>
            <a:endParaRPr/>
          </a:p>
          <a:p>
            <a:pPr marL="0" lvl="0" indent="0" algn="l">
              <a:spcBef>
                <a:spcPts val="0"/>
              </a:spcBef>
              <a:spcAft>
                <a:spcPts val="0"/>
              </a:spcAft>
              <a:buNone/>
            </a:pPr>
            <a:r>
              <a:t>Run: 2026-10-18T04:41:57.323Z to 2026-10-18T04:45:12.914Z.</a:t>
            </a:r>
            <a:endParaRPr/>
          </a:p>
          <a:p>
            <a:pPr marL="0" lvl="0" indent="0" algn="l">
              <a:spcBef>
                <a:spcPts val="0"/>
              </a:spcBef>
              <a:spcAft>
                <a:spcPts val="0"/>
              </a:spcAft>
              <a:buNone/>
            </a:pPr>
            <a:r>
              <a:t>Environment: darwin arm64, Apple M4 Pro, 24 GiB RAM, Node v26.11.1, @google/genai 2.28.0. Local client to hosted Gemini Developer API. Not an app/HTTP benchmark. Model gemini-3.5-flash-lite. Working tree dirty at git commit b86c3135b3d19086170d1f77bf3b5d184cc3f886. Exact fixture SHA-256 ced481d5dc117cfd8a7d2319a38341a866fba7e59e462b50575bc4e006e7f3a2.</a:t>
            </a:r>
            <a:endParaRPr/>
          </a:p>
          <a:p>
            <a:pPr marL="0" lvl="0" indent="0" algn="l">
              <a:spcBef>
                <a:spcPts val="0"/>
              </a:spcBef>
              <a:spcAft>
                <a:spcPts val="0"/>
              </a:spcAft>
              <a:buNone/>
            </a:pPr>
            <a:r>
              <a:t>Methodology: Three repetitions per workload with identical synthetic English fixtures and production prompts/schema/settings. One request at a time, 20s minimum after completion. No retry or warmup. Stop on quota/auth errors. Latency includes request serialization, network and complete SDK response, excludes validation and pacing. Nearest-rank p50, min/max and descriptive paced throughput, no capacity claim. Correctness checks are narrow fixture checks, not general AI accuracy.</a:t>
            </a:r>
            <a:endParaRPr/>
          </a:p>
          <a:p>
            <a:pPr marL="0" lvl="0" indent="0" algn="l">
              <a:spcBef>
                <a:spcPts val="0"/>
              </a:spcBef>
              <a:spcAft>
                <a:spcPts val="0"/>
              </a:spcAft>
              <a:buNone/>
            </a:pPr>
            <a:r>
              <a:t>Workloads use repository PREPARE_PROMPT, STUDENT_PROMPT and EVALUATE_PROMPT, real Zod response schemas, and one fixed English constant-speed fixture from tests/fixtures.ts. Three independent repetitions per workload, interleaved. Lesson checks validate source IDs and board compilation. Teaching checks apply normalizeStudentReply then validateStudent. Report checks validate quote grounding and expected accuracy/transfer-reasoning scores for the synthetic correct answer. No human factual-accuracy review, no measured learning outcome.</a:t>
            </a:r>
            <a:endParaRPr/>
          </a:p>
          <a:p>
            <a:pPr marL="0" lvl="0" indent="0" algn="l">
              <a:spcBef>
                <a:spcPts val="0"/>
              </a:spcBef>
              <a:spcAft>
                <a:spcPts val="0"/>
              </a:spcAft>
              <a:buNone/>
            </a:pPr>
            <a:r>
              <a:t>Tokens: totals per workload from SDK usageMetadata. Output column = candidatesTokenCount + thoughtsTokenCount. Paid equivalent = uncached input × $0.30/M + cached input × $0.03/M + output including thinking × $2.50/M. Price source https://ai.google.dev/gemini-api/docs/pricing#gemini-3.5-flash-lite, verified 18 October 2026. This is not a measured full-session cost or actual bill. Free inference is conditional on free-tier eligibility.</a:t>
            </a:r>
            <a:endParaRPr/>
          </a:p>
          <a:p>
            <a:pPr marL="0" lvl="0" indent="0" algn="l">
              <a:spcBef>
                <a:spcPts val="0"/>
              </a:spcBef>
              <a:spcAft>
                <a:spcPts val="0"/>
              </a:spcAft>
              <a:buNone/>
            </a:pPr>
            <a:r>
              <a:t>Quota constraints: current configured key only, account billing tier and active numeric RPM/TPM/RPD not accessible from supplied materials. No higher limits requested. SDK retries disabled, stop on 429/auth errors. Actual quota failures: 0 failed calls in this run. Google applies limits per project across RPM, input TPM and RPD. RPD resets midnight Pacific. View actual limits in AI Studio: https://ai.google.dev/gemini-api/docs/rate-limits . App daily guard is bypassed by this isolated script.</a:t>
            </a:r>
            <a:endParaRPr/>
          </a:p>
          <a:p>
            <a:pPr marL="0" lvl="0" indent="0" algn="l">
              <a:spcBef>
                <a:spcPts val="0"/>
              </a:spcBef>
              <a:spcAft>
                <a:spcPts val="0"/>
              </a:spcAft>
              <a:buNone/>
            </a:pPr>
            <a:r>
              <a:t>Latency: nonstreaming request to complete SDK response using performance.now(), includes network, excludes post-response validation and pacing. p50 uses nearest rank. Max shown instead of unreliable p95 at n=3. Throughput is successful requests divided by full elapsed wall time including explicit 20s gaps and local validation/setup. It is descriptive, not saturation capacity. Cold/warm network effects not isolated. Timeout 120s, temperature 0.35, output cap 10000.</a:t>
            </a:r>
            <a:endParaRPr/>
          </a:p>
          <a:p>
            <a:pPr marL="0" lvl="0" indent="0" algn="l">
              <a:spcBef>
                <a:spcPts val="0"/>
              </a:spcBef>
              <a:spcAft>
                <a:spcPts val="0"/>
              </a:spcAft>
              <a:buNone/>
            </a:pPr>
            <a:r>
              <a:t>Raw evidence directory: /Users/kko/VSCode/Kko/TeachBack AI /artifacts/benchmarks/2026-10-18T04-41-57-323Z. Reproduce: node --conditions=react-server --import tsx scripts/benchmark-gemini.ts .</a:t>
            </a:r>
            <a:endParaRPr/>
          </a:p>
          <a:p>
            <a:pPr marL="0" lvl="0" indent="0" algn="l">
              <a:spcBef>
                <a:spcPts val="0"/>
              </a:spcBef>
              <a:spcAft>
                <a:spcPts val="0"/>
              </a:spcAft>
              <a:buNone/>
            </a:pPr>
            <a:r>
              <a:t>Limitations: Direct Gemini SDK component benchmark. Excludes browser, Next.js, HTTP route, Firestore, full session, PDF OCR, repair calls, concurrent load, and learning outcomes. Tiny repeated single-topic synthetic sample. No general factual-accuracy or learning-gain estimate. Account tier and project quotas not verified in AI Studio. Results use current API access without requesting higher limits. Paid equivalent uses published standard rates, not billed cost or measured session cost. Free charge is conditional on free-tier eligibility. The app's global daily model-call guard is bypassed because this script calls Gemini directly. No production records are created.</a:t>
            </a:r>
            <a:endParaRPr/>
          </a:p>
          <a:p>
            <a:pPr marL="0" lvl="0" indent="0" algn="l">
              <a:spcBef>
                <a:spcPts val="0"/>
              </a:spcBef>
              <a:spcAft>
                <a:spcPts val="0"/>
              </a:spcAft>
              <a:buNone/>
            </a:pPr>
            <a:r>
              <a:t>Improvement: add HTTP end-to-end instrumentation, PDF OCR cases, broader accuracy labels, repair/retry telemetry and quota-paced multi-session trials.</a:t>
            </a:r>
            <a:endParaRPr/>
          </a:p>
        </p:txBody>
      </p:sp>
    </p:spTree>
  </p:cSld>
  <p:clrMapOvr>
    <a:masterClrMapping/>
  </p:clrMapOvr>
</p:notes>
</file>

<file path=ppt/notesSlides/notesSlide13.xml><?xml version="1.0" encoding="utf-8"?>
<p:notes xmlns:a="http://schemas.openxmlformats.org/drawingml/2006/main"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Source: supplied Teach Milo v6 deck and https://github.com/kyawoo-23/teach-milo. Product claims describe the prototype, not measured learning gains. Proposed work, not deployed or measured outcomes. Benchmark limitations and improvements are recorded on slide 12. No subject-specific modules proposed.</a:t>
            </a:r>
            <a:endParaRPr/>
          </a:p>
        </p:txBody>
      </p:sp>
    </p:spTree>
  </p:cSld>
  <p:clrMapOvr>
    <a:masterClrMapping/>
  </p:clrMapOvr>
</p:notes>
</file>

<file path=ppt/notesSlides/notesSlide14.xml><?xml version="1.0" encoding="utf-8"?>
<p:notes xmlns:a="http://schemas.openxmlformats.org/drawingml/2006/main"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lstStyle/>
          <a:p>
            <a:pPr marL="0" lvl="0" indent="0" algn="l">
              <a:spcBef>
                <a:spcPts val="0"/>
              </a:spcBef>
              <a:spcAft>
                <a:spcPts val="0"/>
              </a:spcAft>
              <a:buNone/>
            </a:pPr>
            <a:r>
              <a:t>Repository and live product URLs from v6. The team will add the three-minute demo video URL.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xml" /><ns0:Relationship Id="rId3" Type="http://schemas.openxmlformats.org/officeDocument/2006/relationships/image" Target="../media/image4.png" /><ns0:Relationship Id="rId4" Type="http://schemas.openxmlformats.org/officeDocument/2006/relationships/image" Target="../media/image3.png" /></ns0: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3.xml" /><ns0:Relationship Id="rId3" Type="http://schemas.openxmlformats.org/officeDocument/2006/relationships/image" Target="../media/image2.png"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4.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5.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5.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6.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6.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7.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8.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8.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9.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9.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0.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1.xml" /><ns0:Relationship Id="rId3" Type="http://schemas.openxmlformats.org/officeDocument/2006/relationships/image" Target="../media/image3.png" /><ns0:Relationship Id="rId4" Type="http://schemas.openxmlformats.org/officeDocument/2006/relationships/image" Target="../media/image2.png" /><ns0:Relationship Type="http://schemas.openxmlformats.org/officeDocument/2006/relationships/image" Target="../media/milo-image5.png" Id="rIdMilo1" /><ns0:Relationship Type="http://schemas.openxmlformats.org/officeDocument/2006/relationships/image" Target="../media/milo-image.jpeg" Id="rIdMilo2" /></ns0:Relationships>
</file>

<file path=ppt/slides/_rels/slide12.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2.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3.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14.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4.xml" /><ns0:Relationship Id="rId3" Type="http://schemas.openxmlformats.org/officeDocument/2006/relationships/image" Target="../media/image3.png" /><ns0:Relationship Id="rId4" Type="http://schemas.openxmlformats.org/officeDocument/2006/relationships/image" Target="../media/image2.png" /></ns0: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pPr>
            <a:r>
              <a:rPr sz="2100">
                <a:latin typeface="Google Sans Flex SemiBold"/>
                <a:ea typeface="Google Sans Flex SemiBold"/>
                <a:cs typeface="Google Sans Flex SemiBold"/>
              </a:rPr>
              <a:t>Team Details</a:t>
            </a:r>
            <a:endParaRPr sz="2100">
              <a:latin typeface="Google Sans Flex SemiBold"/>
              <a:ea typeface="Google Sans Flex SemiBold"/>
              <a:cs typeface="Google Sans Flex SemiBold"/>
            </a:endParaRPr>
          </a:p>
          <a:p>
            <a:pPr marL="0" lvl="0" indent="0" algn="l">
              <a:spcBef>
                <a:spcPts val="0"/>
              </a:spcBef>
              <a:spcAft>
                <a:spcPts val="0"/>
              </a:spcAft>
              <a:buNone/>
            </a:pPr>
            <a:r>
              <a:t/>
            </a:r>
            <a:endParaRPr sz="1800">
              <a:latin typeface="Google Sans Flex Medium"/>
              <a:ea typeface="Google Sans Flex Medium"/>
              <a:cs typeface="Google Sans Flex Medium"/>
            </a:endParaRPr>
          </a:p>
          <a:p>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Team name: Neural Nuggets (Teach Milo)</a:t>
            </a:r>
            <a:endParaRPr sz="1800">
              <a:latin typeface="Google Sans Flex"/>
              <a:ea typeface="Google Sans Flex"/>
              <a:cs typeface="Google Sans Flex"/>
            </a:endParaRPr>
          </a:p>
          <a:p>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Team leader name: Kyaw Kyaw Oo</a:t>
            </a:r>
            <a:endParaRPr sz="1800">
              <a:latin typeface="Google Sans Flex"/>
              <a:ea typeface="Google Sans Flex"/>
              <a:cs typeface="Google Sans Flex"/>
            </a:endParaRPr>
          </a:p>
          <a:p>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Problem Statement: Personalized learning by teaching an AI student</a:t>
            </a:r>
            <a:endParaRPr sz="1800">
              <a:latin typeface="Google Sans Flex"/>
              <a:ea typeface="Google Sans Flex"/>
              <a:cs typeface="Google Sans Flex"/>
            </a:endParaRPr>
          </a:p>
          <a:p>
            <a:pPr marL="0" lvl="0" indent="0" algn="l">
              <a:spcBef>
                <a:spcPts val="0"/>
              </a:spcBef>
              <a:spcAft>
                <a:spcPts val="0"/>
              </a:spcAft>
              <a:buNone/>
            </a:pPr>
            <a:r>
              <a:t/>
            </a:r>
            <a:endParaRPr sz="1800">
              <a:latin typeface="Google Sans Flex Medium"/>
              <a:ea typeface="Google Sans Flex Medium"/>
              <a:cs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nvGrpSpPr>
        <p:cNvPr id="1" name=""/>
        <p:cNvGrpSpPr/>
        <p:nvPr/>
      </p:nv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Tree>
  </p:cSld>
  <p:clrMapOvr>
    <a:masterClrMapping/>
  </p:clrMapOvr>
</p:sld>
</file>

<file path=ppt/slides/slide3.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nvGrpSpPr>
        <p:cNvPr id="1" name=""/>
        <p:cNvGrpSpPr/>
        <p:nvPr/>
      </p:nvGrpSpPr>
      <p:sp>
        <p:nvSpPr>
          <p:cNvPr id="72" name="Teach Milo">
            <a:extLst>
              <a:ext uri="{FF2B5EF4-FFF2-40B4-BE49-F238E27FC236}">
                <ns3:creationId id="{565A5630-F7E0-43BB-87D6-E3603F5D7D85}"/>
              </a:ext>
            </a:extLst>
          </p:cNvPr>
          <p:cNvSpPr>
            <a:spLocks noGrp="1"/>
          </p:cNvSpPr>
          <p:nvPr/>
        </p:nvSpPr>
        <p:spPr>
          <a:xfrm>
            <a:off x="361950" y="1428750"/>
            <a:ext cx="82867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Teach Milo</a:t>
            </a:r>
          </a:p>
        </p:txBody>
      </p:sp>
      <p:sp>
        <p:nvSpPr>
          <p:cNvPr id="73" name="A web app where learners teach a curious AI student using their o">
            <a:extLst>
              <a:ext uri="{FF2B5EF4-FFF2-40B4-BE49-F238E27FC236}">
                <ns3:creationId id="{6703DF33-92F1-436E-83CA-427C812FF91F}"/>
              </a:ext>
            </a:extLst>
          </p:cNvPr>
          <p:cNvSpPr>
            <a:spLocks noGrp="1"/>
          </p:cNvSpPr>
          <p:nvPr/>
        </p:nvSpPr>
        <p:spPr>
          <a:xfrm>
            <a:off x="361950" y="1714500"/>
            <a:ext cx="82867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A web app where learners teach a curious AI student using their own study material.</a:t>
            </a:r>
          </a:p>
        </p:txBody>
      </p:sp>
      <p:sp>
        <p:nvSpPr>
          <p:cNvPr id="74" name="Who it serves">
            <a:extLst>
              <a:ext uri="{FF2B5EF4-FFF2-40B4-BE49-F238E27FC236}">
                <ns3:creationId id="{E01B05B0-C358-42EA-8B78-CF5D4C8E2E6E}"/>
              </a:ext>
            </a:extLst>
          </p:cNvPr>
          <p:cNvSpPr>
            <a:spLocks noGrp="1"/>
          </p:cNvSpPr>
          <p:nvPr/>
        </p:nvSpPr>
        <p:spPr>
          <a:xfrm>
            <a:off x="361950" y="2333625"/>
            <a:ext cx="82867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Who it serves</a:t>
            </a:r>
          </a:p>
        </p:txBody>
      </p:sp>
      <p:sp>
        <p:nvSpPr>
          <p:cNvPr id="75" name="Students and self-learners who want to practise explaining and ap">
            <a:extLst>
              <a:ext uri="{FF2B5EF4-FFF2-40B4-BE49-F238E27FC236}">
                <ns3:creationId id="{7F05CA6B-4003-4324-B838-2549AF1DC745}"/>
              </a:ext>
            </a:extLst>
          </p:cNvPr>
          <p:cNvSpPr>
            <a:spLocks noGrp="1"/>
          </p:cNvSpPr>
          <p:nvPr/>
        </p:nvSpPr>
        <p:spPr>
          <a:xfrm>
            <a:off x="361950" y="2619375"/>
            <a:ext cx="82867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Students and self-learners who want to practise explaining and applying a concept.</a:t>
            </a:r>
          </a:p>
        </p:txBody>
      </p:sp>
      <p:sp>
        <p:nvSpPr>
          <p:cNvPr id="76" name="How it works">
            <a:extLst>
              <a:ext uri="{FF2B5EF4-FFF2-40B4-BE49-F238E27FC236}">
                <ns3:creationId id="{DF82360E-4F34-41C4-A1D3-4552B12D0D97}"/>
              </a:ext>
            </a:extLst>
          </p:cNvPr>
          <p:cNvSpPr>
            <a:spLocks noGrp="1"/>
          </p:cNvSpPr>
          <p:nvPr/>
        </p:nvSpPr>
        <p:spPr>
          <a:xfrm>
            <a:off x="361950" y="3238500"/>
            <a:ext cx="82867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How it works</a:t>
            </a:r>
          </a:p>
        </p:txBody>
      </p:sp>
      <p:sp>
        <p:nvSpPr>
          <p:cNvPr id="77" name="Milo asks about gaps, presents a misconception to correct, and of">
            <a:extLst>
              <a:ext uri="{FF2B5EF4-FFF2-40B4-BE49-F238E27FC236}">
                <ns3:creationId id="{F3F270D8-6812-454B-86E5-88300D6FADF4}"/>
              </a:ext>
            </a:extLst>
          </p:cNvPr>
          <p:cNvSpPr>
            <a:spLocks noGrp="1"/>
          </p:cNvSpPr>
          <p:nvPr/>
        </p:nvSpPr>
        <p:spPr>
          <a:xfrm>
            <a:off x="361950" y="3524250"/>
            <a:ext cx="82867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Milo asks about gaps, presents a misconception to correct, and offers a fresh application task.</a:t>
            </a:r>
          </a:p>
        </p:txBody>
      </p:sp>
      <p:sp>
        <p:nvSpPr>
          <p:cNvPr id="78" name="Working prototype on Google Cloud with Gemini. Guests can start w">
            <a:extLst>
              <a:ext uri="{FF2B5EF4-FFF2-40B4-BE49-F238E27FC236}">
                <ns3:creationId id="{427EED6A-6F76-4351-AC87-75B16E2AF4A4}"/>
              </a:ext>
            </a:extLst>
          </p:cNvPr>
          <p:cNvSpPr>
            <a:spLocks noGrp="1"/>
          </p:cNvSpPr>
          <p:nvPr/>
        </p:nvSpPr>
        <p:spPr>
          <a:xfrm>
            <a:off x="361950" y="4295775"/>
            <a:ext cx="8286750" cy="4286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Working prototype on Google Cloud with Gemini. Guests can start without an account.</a:t>
            </a:r>
          </a:p>
        </p:txBody>
      </p:sp>
    </p:spTree>
  </p:cSld>
  <p:clrMapOvr>
    <a:masterClrMapping/>
  </p:clrMapOvr>
</p:sld>
</file>

<file path=ppt/slides/slide4.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different is it from any of the other existing ideas?</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will it be able to solve the problem?</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USP of the proposed solution</a:t>
            </a:r>
            <a:endParaRPr sz="1300">
              <a:latin typeface="Google Sans Flex"/>
              <a:ea typeface="Google Sans Flex"/>
              <a:cs typeface="Google Sans Flex"/>
              <a:sym typeface="Google Sans Flex"/>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nvGrpSpPr>
        <p:cNvPr id="1" name=""/>
        <p:cNvGrpSpPr/>
        <p:nvPr/>
      </p:nvGrpSpPr>
      <p:sp>
        <p:nvSpPr>
          <p:cNvPr id="80" name="How it differs">
            <a:extLst>
              <a:ext uri="{FF2B5EF4-FFF2-40B4-BE49-F238E27FC236}">
                <ns3:creationId id="{9ACEDFA2-AEB4-4FDD-9015-66E9C1721B90}"/>
              </a:ext>
            </a:extLst>
          </p:cNvPr>
          <p:cNvSpPr>
            <a:spLocks noGrp="1"/>
          </p:cNvSpPr>
          <p:nvPr/>
        </p:nvSpPr>
        <p:spPr>
          <a:xfrm>
            <a:off x="361950" y="2295525"/>
            <a:ext cx="82867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How it differs</a:t>
            </a:r>
          </a:p>
        </p:txBody>
      </p:sp>
      <p:sp>
        <p:nvSpPr>
          <p:cNvPr id="81" name="The AI takes the student role. The learner explains material from">
            <a:extLst>
              <a:ext uri="{FF2B5EF4-FFF2-40B4-BE49-F238E27FC236}">
                <ns3:creationId id="{75ADBF19-CA0C-4F85-B4A1-8B33D8ACD465}"/>
              </a:ext>
            </a:extLst>
          </p:cNvPr>
          <p:cNvSpPr>
            <a:spLocks noGrp="1"/>
          </p:cNvSpPr>
          <p:nvPr/>
        </p:nvSpPr>
        <p:spPr>
          <a:xfrm>
            <a:off x="361950" y="2581275"/>
            <a:ext cx="82867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The AI takes the student role. The learner explains material from their own notes instead of receiving a generated lesson to read.</a:t>
            </a:r>
          </a:p>
        </p:txBody>
      </p:sp>
      <p:sp>
        <p:nvSpPr>
          <p:cNvPr id="82" name="How it addresses the problem">
            <a:extLst>
              <a:ext uri="{FF2B5EF4-FFF2-40B4-BE49-F238E27FC236}">
                <ns3:creationId id="{87ECC455-C91B-4B28-A29C-38A0AA2D2FD3}"/>
              </a:ext>
            </a:extLst>
          </p:cNvPr>
          <p:cNvSpPr>
            <a:spLocks noGrp="1"/>
          </p:cNvSpPr>
          <p:nvPr/>
        </p:nvSpPr>
        <p:spPr>
          <a:xfrm>
            <a:off x="361950" y="3171825"/>
            <a:ext cx="82867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How it addresses the problem</a:t>
            </a:r>
          </a:p>
        </p:txBody>
      </p:sp>
      <p:sp>
        <p:nvSpPr>
          <p:cNvPr id="83" name="Questions and deliberate misconceptions expose gaps. An independe">
            <a:extLst>
              <a:ext uri="{FF2B5EF4-FFF2-40B4-BE49-F238E27FC236}">
                <ns3:creationId id="{94E70DCE-076D-47DF-B8D2-2AB6E6DD2DDB}"/>
              </a:ext>
            </a:extLst>
          </p:cNvPr>
          <p:cNvSpPr>
            <a:spLocks noGrp="1"/>
          </p:cNvSpPr>
          <p:nvPr/>
        </p:nvSpPr>
        <p:spPr>
          <a:xfrm>
            <a:off x="361950" y="3457575"/>
            <a:ext cx="82867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Questions and deliberate misconceptions expose gaps. An independent check asks the learner to apply the idea in a new situation.</a:t>
            </a:r>
          </a:p>
        </p:txBody>
      </p:sp>
      <p:sp>
        <p:nvSpPr>
          <p:cNvPr id="84" name="USP">
            <a:extLst>
              <a:ext uri="{FF2B5EF4-FFF2-40B4-BE49-F238E27FC236}">
                <ns3:creationId id="{02021C10-2BEB-4901-9866-FF7A8B592DE8}"/>
              </a:ext>
            </a:extLst>
          </p:cNvPr>
          <p:cNvSpPr>
            <a:spLocks noGrp="1"/>
          </p:cNvSpPr>
          <p:nvPr/>
        </p:nvSpPr>
        <p:spPr>
          <a:xfrm>
            <a:off x="361950" y="4048125"/>
            <a:ext cx="82867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USP</a:t>
            </a:r>
          </a:p>
        </p:txBody>
      </p:sp>
      <p:sp>
        <p:nvSpPr>
          <p:cNvPr id="85" name="Teaching, an independent application task, and feedback that quot">
            <a:extLst>
              <a:ext uri="{FF2B5EF4-FFF2-40B4-BE49-F238E27FC236}">
                <ns3:creationId id="{8ABD4497-CEA9-4767-B460-D1780A3F1295}"/>
              </a:ext>
            </a:extLst>
          </p:cNvPr>
          <p:cNvSpPr>
            <a:spLocks noGrp="1"/>
          </p:cNvSpPr>
          <p:nvPr/>
        </p:nvSpPr>
        <p:spPr>
          <a:xfrm>
            <a:off x="361950" y="4333875"/>
            <a:ext cx="82867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Teaching, an independent application task, and feedback that quotes the learner’s own explanation in one session.</a:t>
            </a:r>
          </a:p>
        </p:txBody>
      </p:sp>
    </p:spTree>
  </p:cSld>
  <p:clrMapOvr>
    <a:masterClrMapping/>
  </p:clrMapOvr>
</p:sld>
</file>

<file path=ppt/slides/slide5.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nvGrpSpPr>
        <p:cNvPr id="1" name=""/>
        <p:cNvGrpSpPr/>
        <p:nvPr/>
      </p:nvGrpSpPr>
      <p:sp>
        <p:nvSpPr>
          <p:cNvPr id="88" name="Functional features">
            <a:extLst>
              <a:ext uri="{FF2B5EF4-FFF2-40B4-BE49-F238E27FC236}">
                <ns3:creationId id="{F2DBE0EE-2F02-4954-96A0-B292A0E7B5A8}"/>
              </a:ext>
            </a:extLst>
          </p:cNvPr>
          <p:cNvSpPr>
            <a:spLocks noGrp="1"/>
          </p:cNvSpPr>
          <p:nvPr/>
        </p:nvSpPr>
        <p:spPr>
          <a:xfrm>
            <a:off x="361950" y="1419225"/>
            <a:ext cx="4048125" cy="285750"/>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Functional features</a:t>
            </a:r>
          </a:p>
        </p:txBody>
      </p:sp>
      <p:sp>
        <p:nvSpPr>
          <p:cNvPr id="89" name="Non-functional features">
            <a:extLst>
              <a:ext uri="{FF2B5EF4-FFF2-40B4-BE49-F238E27FC236}">
                <ns3:creationId id="{154FCBE5-43CD-4449-84CB-62E646B3606B}"/>
              </a:ext>
            </a:extLst>
          </p:cNvPr>
          <p:cNvSpPr>
            <a:spLocks noGrp="1"/>
          </p:cNvSpPr>
          <p:nvPr/>
        </p:nvSpPr>
        <p:spPr>
          <a:xfrm>
            <a:off x="4772025" y="1419225"/>
            <a:ext cx="4048125" cy="285750"/>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Non-functional features</a:t>
            </a:r>
          </a:p>
        </p:txBody>
      </p:sp>
      <p:sp>
        <p:nvSpPr>
          <p:cNvPr id="90" name="Your own material">
            <a:extLst>
              <a:ext uri="{FF2B5EF4-FFF2-40B4-BE49-F238E27FC236}">
                <ns3:creationId id="{AB2FEB30-C8B3-457A-A1D3-EBD1E010A4BF}"/>
              </a:ext>
            </a:extLst>
          </p:cNvPr>
          <p:cNvSpPr>
            <a:spLocks noGrp="1"/>
          </p:cNvSpPr>
          <p:nvPr/>
        </p:nvSpPr>
        <p:spPr>
          <a:xfrm>
            <a:off x="361950" y="1885950"/>
            <a:ext cx="39052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Your own material</a:t>
            </a:r>
          </a:p>
        </p:txBody>
      </p:sp>
      <p:sp>
        <p:nvSpPr>
          <p:cNvPr id="91" name="Upload PDF, DOCX, PPTX or TXT, or paste notes.">
            <a:extLst>
              <a:ext uri="{FF2B5EF4-FFF2-40B4-BE49-F238E27FC236}">
                <ns3:creationId id="{78F9298A-7D89-49B9-8053-378CB300DECC}"/>
              </a:ext>
            </a:extLst>
          </p:cNvPr>
          <p:cNvSpPr>
            <a:spLocks noGrp="1"/>
          </p:cNvSpPr>
          <p:nvPr/>
        </p:nvSpPr>
        <p:spPr>
          <a:xfrm>
            <a:off x="361950" y="2171700"/>
            <a:ext cx="39052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Upload PDF, DOCX, PPTX or TXT, or paste notes.</a:t>
            </a:r>
          </a:p>
        </p:txBody>
      </p:sp>
      <p:sp>
        <p:nvSpPr>
          <p:cNvPr id="92" name="Validated AI output">
            <a:extLst>
              <a:ext uri="{FF2B5EF4-FFF2-40B4-BE49-F238E27FC236}">
                <ns3:creationId id="{92CF80B2-5BAE-4A3F-907C-3F5FAC9F566E}"/>
              </a:ext>
            </a:extLst>
          </p:cNvPr>
          <p:cNvSpPr>
            <a:spLocks noGrp="1"/>
          </p:cNvSpPr>
          <p:nvPr/>
        </p:nvSpPr>
        <p:spPr>
          <a:xfrm>
            <a:off x="4772025" y="1885950"/>
            <a:ext cx="39052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Validated AI output</a:t>
            </a:r>
          </a:p>
        </p:txBody>
      </p:sp>
      <p:sp>
        <p:nvSpPr>
          <p:cNvPr id="93" name="Schemas check replies. The server verifies calculations.">
            <a:extLst>
              <a:ext uri="{FF2B5EF4-FFF2-40B4-BE49-F238E27FC236}">
                <ns3:creationId id="{473285D9-D497-42C4-B664-FCE457E0BA4E}"/>
              </a:ext>
            </a:extLst>
          </p:cNvPr>
          <p:cNvSpPr>
            <a:spLocks noGrp="1"/>
          </p:cNvSpPr>
          <p:nvPr/>
        </p:nvSpPr>
        <p:spPr>
          <a:xfrm>
            <a:off x="4772025" y="2171700"/>
            <a:ext cx="39052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Schemas check replies. The server verifies calculations.</a:t>
            </a:r>
          </a:p>
        </p:txBody>
      </p:sp>
      <p:sp>
        <p:nvSpPr>
          <p:cNvPr id="94" name="Review and prepare">
            <a:extLst>
              <a:ext uri="{FF2B5EF4-FFF2-40B4-BE49-F238E27FC236}">
                <ns3:creationId id="{F3A511BC-C46B-4D4E-ADB1-D637036E954B}"/>
              </a:ext>
            </a:extLst>
          </p:cNvPr>
          <p:cNvSpPr>
            <a:spLocks noGrp="1"/>
          </p:cNvSpPr>
          <p:nvPr/>
        </p:nvSpPr>
        <p:spPr>
          <a:xfrm>
            <a:off x="361950" y="2619375"/>
            <a:ext cx="39052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Review and prepare</a:t>
            </a:r>
          </a:p>
        </p:txBody>
      </p:sp>
      <p:sp>
        <p:nvSpPr>
          <p:cNvPr id="95" name="Correct extracted text. Choose focus, depth and language.">
            <a:extLst>
              <a:ext uri="{FF2B5EF4-FFF2-40B4-BE49-F238E27FC236}">
                <ns3:creationId id="{DE357754-BB97-4DCB-A318-8263ECAA26DD}"/>
              </a:ext>
            </a:extLst>
          </p:cNvPr>
          <p:cNvSpPr>
            <a:spLocks noGrp="1"/>
          </p:cNvSpPr>
          <p:nvPr/>
        </p:nvSpPr>
        <p:spPr>
          <a:xfrm>
            <a:off x="361950" y="2905125"/>
            <a:ext cx="39052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Correct extracted text. Choose focus, depth and language.</a:t>
            </a:r>
          </a:p>
        </p:txBody>
      </p:sp>
      <p:sp>
        <p:nvSpPr>
          <p:cNvPr id="96" name="Protected data and secrets">
            <a:extLst>
              <a:ext uri="{FF2B5EF4-FFF2-40B4-BE49-F238E27FC236}">
                <ns3:creationId id="{ABFC6BAB-DA56-46C5-9BD3-0E64C5D45D97}"/>
              </a:ext>
            </a:extLst>
          </p:cNvPr>
          <p:cNvSpPr>
            <a:spLocks noGrp="1"/>
          </p:cNvSpPr>
          <p:nvPr/>
        </p:nvSpPr>
        <p:spPr>
          <a:xfrm>
            <a:off x="4772025" y="2619375"/>
            <a:ext cx="39052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Protected data and secrets</a:t>
            </a:r>
          </a:p>
        </p:txBody>
      </p:sp>
      <p:sp>
        <p:nvSpPr>
          <p:cNvPr id="97" name="Server-side keys, hashed passwords, 7-day data expiry.">
            <a:extLst>
              <a:ext uri="{FF2B5EF4-FFF2-40B4-BE49-F238E27FC236}">
                <ns3:creationId id="{1974D85D-62F8-42F9-9288-5BBC43AD2924}"/>
              </a:ext>
            </a:extLst>
          </p:cNvPr>
          <p:cNvSpPr>
            <a:spLocks noGrp="1"/>
          </p:cNvSpPr>
          <p:nvPr/>
        </p:nvSpPr>
        <p:spPr>
          <a:xfrm>
            <a:off x="4772025" y="2905125"/>
            <a:ext cx="39052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Server-side keys, hashed passwords, 7-day data expiry.</a:t>
            </a:r>
          </a:p>
        </p:txBody>
      </p:sp>
      <p:sp>
        <p:nvSpPr>
          <p:cNvPr id="98" name="Teach in chat and on boards">
            <a:extLst>
              <a:ext uri="{FF2B5EF4-FFF2-40B4-BE49-F238E27FC236}">
                <ns3:creationId id="{CCB893B3-DC03-445E-B3C0-04A87751576B}"/>
              </a:ext>
            </a:extLst>
          </p:cNvPr>
          <p:cNvSpPr>
            <a:spLocks noGrp="1"/>
          </p:cNvSpPr>
          <p:nvPr/>
        </p:nvSpPr>
        <p:spPr>
          <a:xfrm>
            <a:off x="361950" y="3352800"/>
            <a:ext cx="39052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Teach in chat and on boards</a:t>
            </a:r>
          </a:p>
        </p:txBody>
      </p:sp>
      <p:sp>
        <p:nvSpPr>
          <p:cNvPr id="99" name="Explain ideas and correct Milo’s misconception.">
            <a:extLst>
              <a:ext uri="{FF2B5EF4-FFF2-40B4-BE49-F238E27FC236}">
                <ns3:creationId id="{33A1E093-62B6-426C-9132-91505989CBAB}"/>
              </a:ext>
            </a:extLst>
          </p:cNvPr>
          <p:cNvSpPr>
            <a:spLocks noGrp="1"/>
          </p:cNvSpPr>
          <p:nvPr/>
        </p:nvSpPr>
        <p:spPr>
          <a:xfrm>
            <a:off x="361950" y="3638550"/>
            <a:ext cx="39052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Explain ideas and correct Milo’s misconception.</a:t>
            </a:r>
          </a:p>
        </p:txBody>
      </p:sp>
      <p:sp>
        <p:nvSpPr>
          <p:cNvPr id="100" name="Reusable teaching boards">
            <a:extLst>
              <a:ext uri="{FF2B5EF4-FFF2-40B4-BE49-F238E27FC236}">
                <ns3:creationId id="{B80BABF1-0248-4302-9C54-6F2084AF414B}"/>
              </a:ext>
            </a:extLst>
          </p:cNvPr>
          <p:cNvSpPr>
            <a:spLocks noGrp="1"/>
          </p:cNvSpPr>
          <p:nvPr/>
        </p:nvSpPr>
        <p:spPr>
          <a:xfrm>
            <a:off x="4772025" y="3352800"/>
            <a:ext cx="39052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Reusable teaching boards</a:t>
            </a:r>
          </a:p>
        </p:txBody>
      </p:sp>
      <p:sp>
        <p:nvSpPr>
          <p:cNvPr id="101" name="Activities, concept maps, matching, tables and sketches.">
            <a:extLst>
              <a:ext uri="{FF2B5EF4-FFF2-40B4-BE49-F238E27FC236}">
                <ns3:creationId id="{456EBD30-7E36-4CB8-91A1-C49F5AC5FE05}"/>
              </a:ext>
            </a:extLst>
          </p:cNvPr>
          <p:cNvSpPr>
            <a:spLocks noGrp="1"/>
          </p:cNvSpPr>
          <p:nvPr/>
        </p:nvSpPr>
        <p:spPr>
          <a:xfrm>
            <a:off x="4772025" y="3638550"/>
            <a:ext cx="39052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Activities, concept maps, matching, tables and sketches.</a:t>
            </a:r>
          </a:p>
        </p:txBody>
      </p:sp>
      <p:sp>
        <p:nvSpPr>
          <p:cNvPr id="102" name="Independent check and report">
            <a:extLst>
              <a:ext uri="{FF2B5EF4-FFF2-40B4-BE49-F238E27FC236}">
                <ns3:creationId id="{E1BD1A87-6CF5-458A-8391-1267EF8DDFA8}"/>
              </a:ext>
            </a:extLst>
          </p:cNvPr>
          <p:cNvSpPr>
            <a:spLocks noGrp="1"/>
          </p:cNvSpPr>
          <p:nvPr/>
        </p:nvSpPr>
        <p:spPr>
          <a:xfrm>
            <a:off x="361950" y="4086225"/>
            <a:ext cx="39052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Independent check and report</a:t>
            </a:r>
          </a:p>
        </p:txBody>
      </p:sp>
      <p:sp>
        <p:nvSpPr>
          <p:cNvPr id="103" name="Try a fresh task and inspect cited feedback.">
            <a:extLst>
              <a:ext uri="{FF2B5EF4-FFF2-40B4-BE49-F238E27FC236}">
                <ns3:creationId id="{641B395F-DF7B-4D17-A5B7-63A3DA6EDC61}"/>
              </a:ext>
            </a:extLst>
          </p:cNvPr>
          <p:cNvSpPr>
            <a:spLocks noGrp="1"/>
          </p:cNvSpPr>
          <p:nvPr/>
        </p:nvSpPr>
        <p:spPr>
          <a:xfrm>
            <a:off x="361950" y="4371975"/>
            <a:ext cx="39052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Try a fresh task and inspect cited feedback.</a:t>
            </a:r>
          </a:p>
        </p:txBody>
      </p:sp>
      <p:sp>
        <p:nvSpPr>
          <p:cNvPr id="104" name="Language and appearance">
            <a:extLst>
              <a:ext uri="{FF2B5EF4-FFF2-40B4-BE49-F238E27FC236}">
                <ns3:creationId id="{51900FE2-9E57-4852-A035-375FC284ED68}"/>
              </a:ext>
            </a:extLst>
          </p:cNvPr>
          <p:cNvSpPr>
            <a:spLocks noGrp="1"/>
          </p:cNvSpPr>
          <p:nvPr/>
        </p:nvSpPr>
        <p:spPr>
          <a:xfrm>
            <a:off x="4772025" y="4086225"/>
            <a:ext cx="39052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Language and appearance</a:t>
            </a:r>
          </a:p>
        </p:txBody>
      </p:sp>
      <p:sp>
        <p:nvSpPr>
          <p:cNvPr id="105" name="5 interface languages, 9 teaching languages, light/dark.">
            <a:extLst>
              <a:ext uri="{FF2B5EF4-FFF2-40B4-BE49-F238E27FC236}">
                <ns3:creationId id="{1E65E942-ABCB-4984-B537-7C20A223D3AE}"/>
              </a:ext>
            </a:extLst>
          </p:cNvPr>
          <p:cNvSpPr>
            <a:spLocks noGrp="1"/>
          </p:cNvSpPr>
          <p:nvPr/>
        </p:nvSpPr>
        <p:spPr>
          <a:xfrm>
            <a:off x="4772025" y="4371975"/>
            <a:ext cx="39052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5 interface languages, 9 teaching languages, light/dark.</a:t>
            </a:r>
          </a:p>
        </p:txBody>
      </p:sp>
    </p:spTree>
  </p:cSld>
  <p:clrMapOvr>
    <a:masterClrMapping/>
  </p:clrMapOvr>
</p:sld>
</file>

<file path=ppt/slides/slide6.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nvGrpSpPr>
        <p:cNvPr id="1" name=""/>
        <p:cNvGrpSpPr/>
        <p:nvPr/>
      </p:nvGrpSpPr>
      <p:cxnSp>
        <p:nvCxnSpPr>
          <p:cNvPr id="106" name="">
            <a:extLst>
              <a:ext uri="{FF2B5EF4-FFF2-40B4-BE49-F238E27FC236}">
                <ns3:creationId id="{B89256D1-A57C-4F94-A884-42914AB68297}"/>
              </a:ext>
            </a:extLst>
          </p:cNvPr>
          <p:cNvCxnSpPr>
            <a:stCxn id="100" idx="1"/>
            <a:endCxn id="101" idx="3"/>
          </p:cNvCxnSpPr>
          <p:nvPr/>
        </p:nvCxnSpPr>
        <p:spPr>
          <a:xfrm flipH="1">
            <a:off x="2762250" y="3371850"/>
            <a:ext cx="619125" cy="0"/>
          </a:xfrm>
          <a:prstGeom prst="straightConnector1">
            <a:avLst/>
          </a:prstGeom>
          <a:ln w="12383">
            <a:solidFill>
              <a:srgbClr val="000000"/>
            </a:solidFill>
            <a:tailEnd type="triangle" w="med" len="med"/>
          </a:ln>
        </p:spPr>
      </p:cxnSp>
      <p:cxnSp>
        <p:nvCxnSpPr>
          <p:cNvPr id="105" name="">
            <a:extLst>
              <a:ext uri="{FF2B5EF4-FFF2-40B4-BE49-F238E27FC236}">
                <ns3:creationId id="{BB0265D3-92AA-43F5-89F6-B6048ADC0E06}"/>
              </a:ext>
            </a:extLst>
          </p:cNvPr>
          <p:cNvCxnSpPr>
            <a:stCxn id="99" idx="1"/>
            <a:endCxn id="100" idx="3"/>
          </p:cNvCxnSpPr>
          <p:nvPr/>
        </p:nvCxnSpPr>
        <p:spPr>
          <a:xfrm flipH="1">
            <a:off x="5762625" y="3371850"/>
            <a:ext cx="619125" cy="0"/>
          </a:xfrm>
          <a:prstGeom prst="straightConnector1">
            <a:avLst/>
          </a:prstGeom>
          <a:ln w="12383">
            <a:solidFill>
              <a:srgbClr val="000000"/>
            </a:solidFill>
            <a:tailEnd type="triangle" w="med" len="med"/>
          </a:ln>
        </p:spPr>
      </p:cxnSp>
      <p:cxnSp>
        <p:nvCxnSpPr>
          <p:cNvPr id="104" name="">
            <a:extLst>
              <a:ext uri="{FF2B5EF4-FFF2-40B4-BE49-F238E27FC236}">
                <ns3:creationId id="{1E13C5D5-E662-4DDA-B045-E838C94348B1}"/>
              </a:ext>
            </a:extLst>
          </p:cNvPr>
          <p:cNvCxnSpPr>
            <a:stCxn id="98" idx="2"/>
            <a:endCxn id="99" idx="0"/>
          </p:cNvCxnSpPr>
          <p:nvPr/>
        </p:nvCxnSpPr>
        <p:spPr>
          <a:xfrm>
            <a:off x="7572375" y="2362200"/>
            <a:ext cx="0" cy="638175"/>
          </a:xfrm>
          <a:prstGeom prst="straightConnector1">
            <a:avLst/>
          </a:prstGeom>
          <a:ln w="12383">
            <a:solidFill>
              <a:srgbClr val="000000"/>
            </a:solidFill>
            <a:tailEnd type="triangle" w="med" len="med"/>
          </a:ln>
        </p:spPr>
      </p:cxnSp>
      <p:cxnSp>
        <p:nvCxnSpPr>
          <p:cNvPr id="103" name="">
            <a:extLst>
              <a:ext uri="{FF2B5EF4-FFF2-40B4-BE49-F238E27FC236}">
                <ns3:creationId id="{EF70E4EA-5ADE-4891-A6ED-B4B0AF351B1B}"/>
              </a:ext>
            </a:extLst>
          </p:cNvPr>
          <p:cNvCxnSpPr>
            <a:stCxn id="97" idx="3"/>
            <a:endCxn id="98" idx="1"/>
          </p:cNvCxnSpPr>
          <p:nvPr/>
        </p:nvCxnSpPr>
        <p:spPr>
          <a:xfrm>
            <a:off x="5762625" y="1990725"/>
            <a:ext cx="619125" cy="0"/>
          </a:xfrm>
          <a:prstGeom prst="straightConnector1">
            <a:avLst/>
          </a:prstGeom>
          <a:ln w="12383">
            <a:solidFill>
              <a:srgbClr val="000000"/>
            </a:solidFill>
            <a:tailEnd type="triangle" w="med" len="med"/>
          </a:ln>
        </p:spPr>
      </p:cxnSp>
      <p:cxnSp>
        <p:nvCxnSpPr>
          <p:cNvPr id="102" name="">
            <a:extLst>
              <a:ext uri="{FF2B5EF4-FFF2-40B4-BE49-F238E27FC236}">
                <ns3:creationId id="{3667F65F-7D2F-4972-A849-8C7FE1988332}"/>
              </a:ext>
            </a:extLst>
          </p:cNvPr>
          <p:cNvCxnSpPr>
            <a:stCxn id="96" idx="3"/>
            <a:endCxn id="97" idx="1"/>
          </p:cNvCxnSpPr>
          <p:nvPr/>
        </p:nvCxnSpPr>
        <p:spPr>
          <a:xfrm>
            <a:off x="2762250" y="1990725"/>
            <a:ext cx="619125" cy="0"/>
          </a:xfrm>
          <a:prstGeom prst="straightConnector1">
            <a:avLst/>
          </a:prstGeom>
          <a:ln w="12383">
            <a:solidFill>
              <a:srgbClr val="000000"/>
            </a:solidFill>
            <a:tailEnd type="triangle" w="med" len="med"/>
          </a:ln>
        </p:spPr>
      </p:cxnSp>
      <p:sp>
        <p:nvSpPr>
          <p:cNvPr id="96" name="">
            <a:extLst>
              <a:ext uri="{FF2B5EF4-FFF2-40B4-BE49-F238E27FC236}">
                <ns3:creationId id="{CE387A1D-79C4-4026-969C-7989945331E9}"/>
              </a:ext>
            </a:extLst>
          </p:cNvPr>
          <p:cNvSpPr>
            <a:spLocks noGrp="1"/>
          </p:cNvSpPr>
          <p:nvPr/>
        </p:nvSpPr>
        <p:spPr>
          <a:xfrm>
            <a:off x="381000" y="1619250"/>
            <a:ext cx="2381250" cy="7429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1  Add material</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Upload or paste notes</a:t>
            </a:r>
          </a:p>
        </p:txBody>
      </p:sp>
      <p:sp>
        <p:nvSpPr>
          <p:cNvPr id="97" name="">
            <a:extLst>
              <a:ext uri="{FF2B5EF4-FFF2-40B4-BE49-F238E27FC236}">
                <ns3:creationId id="{03476CD6-C447-49AC-B86F-7E1286B74F25}"/>
              </a:ext>
            </a:extLst>
          </p:cNvPr>
          <p:cNvSpPr>
            <a:spLocks noGrp="1"/>
          </p:cNvSpPr>
          <p:nvPr/>
        </p:nvSpPr>
        <p:spPr>
          <a:xfrm>
            <a:off x="3381375" y="1619250"/>
            <a:ext cx="2381250" cy="7429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2  Review source</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Correct extracted text</a:t>
            </a:r>
          </a:p>
        </p:txBody>
      </p:sp>
      <p:sp>
        <p:nvSpPr>
          <p:cNvPr id="98" name="">
            <a:extLst>
              <a:ext uri="{FF2B5EF4-FFF2-40B4-BE49-F238E27FC236}">
                <ns3:creationId id="{8FAC95F1-D801-4818-B195-409EF07C5B30}"/>
              </a:ext>
            </a:extLst>
          </p:cNvPr>
          <p:cNvSpPr>
            <a:spLocks noGrp="1"/>
          </p:cNvSpPr>
          <p:nvPr/>
        </p:nvSpPr>
        <p:spPr>
          <a:xfrm>
            <a:off x="6381750" y="1619250"/>
            <a:ext cx="2381250" cy="7429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3  Prepare lesson</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Choose focus and depth</a:t>
            </a:r>
          </a:p>
        </p:txBody>
      </p:sp>
      <p:sp>
        <p:nvSpPr>
          <p:cNvPr id="99" name="">
            <a:extLst>
              <a:ext uri="{FF2B5EF4-FFF2-40B4-BE49-F238E27FC236}">
                <ns3:creationId id="{C3D327BD-B7CC-4342-9A2E-9805425156FF}"/>
              </a:ext>
            </a:extLst>
          </p:cNvPr>
          <p:cNvSpPr>
            <a:spLocks noGrp="1"/>
          </p:cNvSpPr>
          <p:nvPr/>
        </p:nvSpPr>
        <p:spPr>
          <a:xfrm>
            <a:off x="6381750" y="3000375"/>
            <a:ext cx="2381250" cy="7429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4  Teach Milo</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Explain and correct</a:t>
            </a:r>
          </a:p>
        </p:txBody>
      </p:sp>
      <p:sp>
        <p:nvSpPr>
          <p:cNvPr id="100" name="">
            <a:extLst>
              <a:ext uri="{FF2B5EF4-FFF2-40B4-BE49-F238E27FC236}">
                <ns3:creationId id="{FA67019F-E0B2-44C5-AE63-E88C12D85BAD}"/>
              </a:ext>
            </a:extLst>
          </p:cNvPr>
          <p:cNvSpPr>
            <a:spLocks noGrp="1"/>
          </p:cNvSpPr>
          <p:nvPr/>
        </p:nvSpPr>
        <p:spPr>
          <a:xfrm>
            <a:off x="3381375" y="3000375"/>
            <a:ext cx="2381250" cy="7429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5  Independent check</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Apply to a fresh task</a:t>
            </a:r>
          </a:p>
        </p:txBody>
      </p:sp>
      <p:sp>
        <p:nvSpPr>
          <p:cNvPr id="101" name="">
            <a:extLst>
              <a:ext uri="{FF2B5EF4-FFF2-40B4-BE49-F238E27FC236}">
                <ns3:creationId id="{E40B53A8-F593-48DB-AEF9-1A41ED5D6B39}"/>
              </a:ext>
            </a:extLst>
          </p:cNvPr>
          <p:cNvSpPr>
            <a:spLocks noGrp="1"/>
          </p:cNvSpPr>
          <p:nvPr/>
        </p:nvSpPr>
        <p:spPr>
          <a:xfrm>
            <a:off x="381000" y="3000375"/>
            <a:ext cx="2381250" cy="7429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6  Learning report</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Evidence and next steps</a:t>
            </a:r>
          </a:p>
        </p:txBody>
      </p:sp>
      <p:sp>
        <p:nvSpPr>
          <p:cNvPr id="107" name="Teaching can continue until the evidence supports readiness. The ">
            <a:extLst>
              <a:ext uri="{FF2B5EF4-FFF2-40B4-BE49-F238E27FC236}">
                <ns3:creationId id="{80D4E201-A7E9-493B-8548-5988373D3B5E}"/>
              </a:ext>
            </a:extLst>
          </p:cNvPr>
          <p:cNvSpPr>
            <a:spLocks noGrp="1"/>
          </p:cNvSpPr>
          <p:nvPr/>
        </p:nvSpPr>
        <p:spPr>
          <a:xfrm>
            <a:off x="381000" y="4248150"/>
            <a:ext cx="8382000" cy="552450"/>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Teaching can continue until the evidence supports readiness. The independent check is optional.</a:t>
            </a:r>
          </a:p>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Learners can end a session at any time and receive feedback.</a:t>
            </a:r>
          </a:p>
        </p:txBody>
      </p:sp>
    </p:spTree>
  </p:cSld>
  <p:clrMapOvr>
    <a:masterClrMapping/>
  </p:clrMapOvr>
</p:sld>
</file>

<file path=ppt/slides/slide7.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nvGrpSpPr>
        <p:cNvPr id="1" name=""/>
        <p:cNvGrpSpPr/>
        <p:nvPr/>
      </p:nvGrpSpPr>
      <p:sp>
        <p:nvSpPr>
          <p:cNvPr id="104" name="">
            <a:extLst>
              <a:ext uri="{FF2B5EF4-FFF2-40B4-BE49-F238E27FC236}">
                <ns3:creationId id="{850B9360-BAB7-47FF-A625-2AB22D98100A}"/>
              </a:ext>
            </a:extLst>
          </p:cNvPr>
          <p:cNvSpPr>
            <a:spLocks noGrp="1"/>
          </p:cNvSpPr>
          <p:nvPr/>
        </p:nvSpPr>
        <p:spPr>
          <a:xfrm>
            <a:off x="361950" y="1609725"/>
            <a:ext cx="2609850" cy="28765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r>
              <a:t/>
            </a:r>
          </a:p>
        </p:txBody>
      </p:sp>
      <p:sp>
        <p:nvSpPr>
          <p:cNvPr id="105" name="Prepare a lesson">
            <a:extLst>
              <a:ext uri="{FF2B5EF4-FFF2-40B4-BE49-F238E27FC236}">
                <ns3:creationId id="{525B9775-B00C-44D2-AA9A-E35219CCD20A}"/>
              </a:ext>
            </a:extLst>
          </p:cNvPr>
          <p:cNvSpPr>
            <a:spLocks noGrp="1"/>
          </p:cNvSpPr>
          <p:nvPr/>
        </p:nvSpPr>
        <p:spPr>
          <a:xfrm>
            <a:off x="495300" y="1752600"/>
            <a:ext cx="2343150" cy="247650"/>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Prepare a lesson</a:t>
            </a:r>
          </a:p>
        </p:txBody>
      </p:sp>
      <p:sp>
        <p:nvSpPr>
          <p:cNvPr id="106" name="">
            <a:extLst>
              <a:ext uri="{FF2B5EF4-FFF2-40B4-BE49-F238E27FC236}">
                <ns3:creationId id="{3D092CC2-E995-4148-B4AC-F6A2DEA83C0C}"/>
              </a:ext>
            </a:extLst>
          </p:cNvPr>
          <p:cNvSpPr>
            <a:spLocks noGrp="1"/>
          </p:cNvSpPr>
          <p:nvPr/>
        </p:nvSpPr>
        <p:spPr>
          <a:xfrm>
            <a:off x="3267075" y="1609725"/>
            <a:ext cx="2609850" cy="28765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r>
              <a:t/>
            </a:r>
          </a:p>
        </p:txBody>
      </p:sp>
      <p:sp>
        <p:nvSpPr>
          <p:cNvPr id="107" name="Teach Milo">
            <a:extLst>
              <a:ext uri="{FF2B5EF4-FFF2-40B4-BE49-F238E27FC236}">
                <ns3:creationId id="{3DDBBD05-9D06-46EB-AD46-DEEBE795EC94}"/>
              </a:ext>
            </a:extLst>
          </p:cNvPr>
          <p:cNvSpPr>
            <a:spLocks noGrp="1"/>
          </p:cNvSpPr>
          <p:nvPr/>
        </p:nvSpPr>
        <p:spPr>
          <a:xfrm>
            <a:off x="3400425" y="1752600"/>
            <a:ext cx="2343150" cy="247650"/>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Teach Milo</a:t>
            </a:r>
          </a:p>
        </p:txBody>
      </p:sp>
      <p:sp>
        <p:nvSpPr>
          <p:cNvPr id="108" name="">
            <a:extLst>
              <a:ext uri="{FF2B5EF4-FFF2-40B4-BE49-F238E27FC236}">
                <ns3:creationId id="{495BB6E3-38AB-467E-8ABC-B9AC4E2EA9EC}"/>
              </a:ext>
            </a:extLst>
          </p:cNvPr>
          <p:cNvSpPr>
            <a:spLocks noGrp="1"/>
          </p:cNvSpPr>
          <p:nvPr/>
        </p:nvSpPr>
        <p:spPr>
          <a:xfrm>
            <a:off x="6172200" y="1609725"/>
            <a:ext cx="2609850" cy="28765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r>
              <a:t/>
            </a:r>
          </a:p>
        </p:txBody>
      </p:sp>
      <p:sp>
        <p:nvSpPr>
          <p:cNvPr id="109" name="Independent check">
            <a:extLst>
              <a:ext uri="{FF2B5EF4-FFF2-40B4-BE49-F238E27FC236}">
                <ns3:creationId id="{D330EC68-BDB8-45E7-B844-2B6E80822A06}"/>
              </a:ext>
            </a:extLst>
          </p:cNvPr>
          <p:cNvSpPr>
            <a:spLocks noGrp="1"/>
          </p:cNvSpPr>
          <p:nvPr/>
        </p:nvSpPr>
        <p:spPr>
          <a:xfrm>
            <a:off x="6305550" y="1752600"/>
            <a:ext cx="2343150" cy="247650"/>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Independent check</a:t>
            </a:r>
          </a:p>
        </p:txBody>
      </p:sp>
      <p:sp>
        <p:nvSpPr>
          <p:cNvPr id="110" name="">
            <a:extLst>
              <a:ext uri="{FF2B5EF4-FFF2-40B4-BE49-F238E27FC236}">
                <ns3:creationId id="{D24EFA86-705D-4836-AE14-29AF8C132142}"/>
              </a:ext>
            </a:extLst>
          </p:cNvPr>
          <p:cNvSpPr>
            <a:spLocks noGrp="1"/>
          </p:cNvSpPr>
          <p:nvPr/>
        </p:nvSpPr>
        <p:spPr>
          <a:xfrm>
            <a:off x="514350" y="2181225"/>
            <a:ext cx="2305050" cy="771525"/>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Upload a document</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or paste your notes</a:t>
            </a:r>
          </a:p>
        </p:txBody>
      </p:sp>
      <p:sp>
        <p:nvSpPr>
          <p:cNvPr id="111" name="Lesson focus&#10;Teaching language&#10;Depth">
            <a:extLst>
              <a:ext uri="{FF2B5EF4-FFF2-40B4-BE49-F238E27FC236}">
                <ns3:creationId id="{E35FF1F0-119A-4431-B72F-75918495D165}"/>
              </a:ext>
            </a:extLst>
          </p:cNvPr>
          <p:cNvSpPr>
            <a:spLocks noGrp="1"/>
          </p:cNvSpPr>
          <p:nvPr/>
        </p:nvSpPr>
        <p:spPr>
          <a:xfrm>
            <a:off x="514350" y="3171825"/>
            <a:ext cx="2305050" cy="79057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Lesson focus</a:t>
            </a:r>
          </a:p>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Teaching language</a:t>
            </a:r>
          </a:p>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Depth</a:t>
            </a:r>
          </a:p>
        </p:txBody>
      </p:sp>
      <p:sp>
        <p:nvSpPr>
          <p:cNvPr id="112" name="">
            <a:extLst>
              <a:ext uri="{FF2B5EF4-FFF2-40B4-BE49-F238E27FC236}">
                <ns3:creationId id="{8CFB860D-6CD6-4F2E-BDB9-BB7D2E5C341A}"/>
              </a:ext>
            </a:extLst>
          </p:cNvPr>
          <p:cNvSpPr>
            <a:spLocks noGrp="1"/>
          </p:cNvSpPr>
          <p:nvPr/>
        </p:nvSpPr>
        <p:spPr>
          <a:xfrm>
            <a:off x="514350" y="4057650"/>
            <a:ext cx="2305050" cy="295275"/>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Prepare lesson</a:t>
            </a:r>
          </a:p>
        </p:txBody>
      </p:sp>
      <p:sp>
        <p:nvSpPr>
          <p:cNvPr id="113" name="Milo&#10;Why does that happen?&#10;&#10;You&#10;Explain the relationship.">
            <a:extLst>
              <a:ext uri="{FF2B5EF4-FFF2-40B4-BE49-F238E27FC236}">
                <ns3:creationId id="{1B5132BC-3391-4D78-94F5-DFF3F3E74953}"/>
              </a:ext>
            </a:extLst>
          </p:cNvPr>
          <p:cNvSpPr>
            <a:spLocks noGrp="1"/>
          </p:cNvSpPr>
          <p:nvPr/>
        </p:nvSpPr>
        <p:spPr>
          <a:xfrm>
            <a:off x="3419475" y="2200275"/>
            <a:ext cx="2305050" cy="128587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Milo</a:t>
            </a:r>
          </a:p>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Why does that happen?</a:t>
            </a:r>
          </a:p>
          <a:p>
            <a:r>
              <a:t/>
            </a:r>
          </a:p>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You</a:t>
            </a:r>
          </a:p>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Explain the relationship.</a:t>
            </a:r>
          </a:p>
        </p:txBody>
      </p:sp>
      <p:sp>
        <p:nvSpPr>
          <p:cNvPr id="114" name="">
            <a:extLst>
              <a:ext uri="{FF2B5EF4-FFF2-40B4-BE49-F238E27FC236}">
                <ns3:creationId id="{42E74180-10FB-4FB2-B9A3-28C861D1AC23}"/>
              </a:ext>
            </a:extLst>
          </p:cNvPr>
          <p:cNvSpPr>
            <a:spLocks noGrp="1"/>
          </p:cNvSpPr>
          <p:nvPr/>
        </p:nvSpPr>
        <p:spPr>
          <a:xfrm>
            <a:off x="3419475" y="3629025"/>
            <a:ext cx="2305050" cy="3238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Attach a teaching board</a:t>
            </a:r>
          </a:p>
        </p:txBody>
      </p:sp>
      <p:sp>
        <p:nvSpPr>
          <p:cNvPr id="115" name="">
            <a:extLst>
              <a:ext uri="{FF2B5EF4-FFF2-40B4-BE49-F238E27FC236}">
                <ns3:creationId id="{1D42EF8D-2FD8-434C-8915-2EBC6C324B98}"/>
              </a:ext>
            </a:extLst>
          </p:cNvPr>
          <p:cNvSpPr>
            <a:spLocks noGrp="1"/>
          </p:cNvSpPr>
          <p:nvPr/>
        </p:nvSpPr>
        <p:spPr>
          <a:xfrm>
            <a:off x="3419475" y="4057650"/>
            <a:ext cx="2305050" cy="295275"/>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Write an explanation…</a:t>
            </a:r>
          </a:p>
        </p:txBody>
      </p:sp>
      <p:sp>
        <p:nvSpPr>
          <p:cNvPr id="116" name="Try a fresh scenario&#10;&#10;Apply the idea without&#10;practice aids.">
            <a:extLst>
              <a:ext uri="{FF2B5EF4-FFF2-40B4-BE49-F238E27FC236}">
                <ns3:creationId id="{8C48F3A6-5058-4972-9FC6-DCE70C270170}"/>
              </a:ext>
            </a:extLst>
          </p:cNvPr>
          <p:cNvSpPr>
            <a:spLocks noGrp="1"/>
          </p:cNvSpPr>
          <p:nvPr/>
        </p:nvSpPr>
        <p:spPr>
          <a:xfrm>
            <a:off x="6324600" y="2200275"/>
            <a:ext cx="2305050" cy="1028700"/>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Try a fresh scenario</a:t>
            </a:r>
          </a:p>
          <a:p>
            <a:r>
              <a:t/>
            </a:r>
          </a:p>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Apply the idea without</a:t>
            </a:r>
          </a:p>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practice aids.</a:t>
            </a:r>
          </a:p>
        </p:txBody>
      </p:sp>
      <p:sp>
        <p:nvSpPr>
          <p:cNvPr id="117" name="">
            <a:extLst>
              <a:ext uri="{FF2B5EF4-FFF2-40B4-BE49-F238E27FC236}">
                <ns3:creationId id="{708D1930-BFE5-4516-9A82-40BCB6343922}"/>
              </a:ext>
            </a:extLst>
          </p:cNvPr>
          <p:cNvSpPr>
            <a:spLocks noGrp="1"/>
          </p:cNvSpPr>
          <p:nvPr/>
        </p:nvSpPr>
        <p:spPr>
          <a:xfrm>
            <a:off x="6324600" y="3390900"/>
            <a:ext cx="2305050" cy="561975"/>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Your reasoning…</a:t>
            </a:r>
          </a:p>
        </p:txBody>
      </p:sp>
      <p:sp>
        <p:nvSpPr>
          <p:cNvPr id="118" name="">
            <a:extLst>
              <a:ext uri="{FF2B5EF4-FFF2-40B4-BE49-F238E27FC236}">
                <ns3:creationId id="{7FD5DBE1-BB50-4D5C-96EF-AE4B3FC96CD8}"/>
              </a:ext>
            </a:extLst>
          </p:cNvPr>
          <p:cNvSpPr>
            <a:spLocks noGrp="1"/>
          </p:cNvSpPr>
          <p:nvPr/>
        </p:nvSpPr>
        <p:spPr>
          <a:xfrm>
            <a:off x="6324600" y="4057650"/>
            <a:ext cx="2305050" cy="295275"/>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Submit explanation</a:t>
            </a:r>
          </a:p>
        </p:txBody>
      </p:sp>
      <p:sp>
        <p:nvSpPr>
          <p:cNvPr id="119" name="Schematic layouts. Actual prototype screenshots appear on slide 1">
            <a:extLst>
              <a:ext uri="{FF2B5EF4-FFF2-40B4-BE49-F238E27FC236}">
                <ns3:creationId id="{9179632D-BB91-4E85-90BA-C0D6D5124CF2}"/>
              </a:ext>
            </a:extLst>
          </p:cNvPr>
          <p:cNvSpPr>
            <a:spLocks noGrp="1"/>
          </p:cNvSpPr>
          <p:nvPr/>
        </p:nvSpPr>
        <p:spPr>
          <a:xfrm>
            <a:off x="361950" y="4667250"/>
            <a:ext cx="8382000" cy="238125"/>
          </a:xfrm>
          <a:prstGeom prst="rect">
            <a:avLst/>
          </a:prstGeom>
          <a:noFill/>
          <a:ln w="0">
            <a:noFill/>
          </a:ln>
        </p:spPr>
        <p:txBody>
          <a:bodyPr lIns="0" tIns="0" rIns="0" bIns="0" anchor="t"/>
          <a:lstStyle>
            <a:defPPr>
              <a:defRPr sz="1125" b="0">
                <a:solidFill>
                  <a:srgbClr val="000000"/>
                </a:solidFill>
                <a:latin typeface="Google Sans Flex"/>
                <a:ea typeface="Google Sans Flex"/>
                <a:cs typeface="Google Sans Flex"/>
              </a:defRPr>
            </a:defPPr>
            <a:lvl1pPr>
              <a:defRPr sz="1125" b="0">
                <a:solidFill>
                  <a:srgbClr val="000000"/>
                </a:solidFill>
                <a:latin typeface="Google Sans Flex"/>
                <a:ea typeface="Google Sans Flex"/>
                <a:cs typeface="Google Sans Flex"/>
              </a:defRPr>
            </a:lvl1pPr>
            <a:lvl2pPr>
              <a:defRPr sz="1125" b="0">
                <a:solidFill>
                  <a:srgbClr val="000000"/>
                </a:solidFill>
                <a:latin typeface="Google Sans Flex"/>
                <a:ea typeface="Google Sans Flex"/>
                <a:cs typeface="Google Sans Flex"/>
              </a:defRPr>
            </a:lvl2pPr>
            <a:lvl3pPr>
              <a:defRPr sz="1125" b="0">
                <a:solidFill>
                  <a:srgbClr val="000000"/>
                </a:solidFill>
                <a:latin typeface="Google Sans Flex"/>
                <a:ea typeface="Google Sans Flex"/>
                <a:cs typeface="Google Sans Flex"/>
              </a:defRPr>
            </a:lvl3pPr>
            <a:lvl4pPr>
              <a:defRPr sz="1125" b="0">
                <a:solidFill>
                  <a:srgbClr val="000000"/>
                </a:solidFill>
                <a:latin typeface="Google Sans Flex"/>
                <a:ea typeface="Google Sans Flex"/>
                <a:cs typeface="Google Sans Flex"/>
              </a:defRPr>
            </a:lvl4pPr>
            <a:lvl5pPr>
              <a:defRPr sz="1125" b="0">
                <a:solidFill>
                  <a:srgbClr val="000000"/>
                </a:solidFill>
                <a:latin typeface="Google Sans Flex"/>
                <a:ea typeface="Google Sans Flex"/>
                <a:cs typeface="Google Sans Flex"/>
              </a:defRPr>
            </a:lvl5pPr>
            <a:lvl6pPr>
              <a:defRPr sz="1125" b="0">
                <a:solidFill>
                  <a:srgbClr val="000000"/>
                </a:solidFill>
                <a:latin typeface="Google Sans Flex"/>
                <a:ea typeface="Google Sans Flex"/>
                <a:cs typeface="Google Sans Flex"/>
              </a:defRPr>
            </a:lvl6pPr>
            <a:lvl7pPr>
              <a:defRPr sz="1125" b="0">
                <a:solidFill>
                  <a:srgbClr val="000000"/>
                </a:solidFill>
                <a:latin typeface="Google Sans Flex"/>
                <a:ea typeface="Google Sans Flex"/>
                <a:cs typeface="Google Sans Flex"/>
              </a:defRPr>
            </a:lvl7pPr>
            <a:lvl8pPr>
              <a:defRPr sz="1125" b="0">
                <a:solidFill>
                  <a:srgbClr val="000000"/>
                </a:solidFill>
                <a:latin typeface="Google Sans Flex"/>
                <a:ea typeface="Google Sans Flex"/>
                <a:cs typeface="Google Sans Flex"/>
              </a:defRPr>
            </a:lvl8pPr>
            <a:lvl9pPr>
              <a:defRPr sz="1125" b="0">
                <a:solidFill>
                  <a:srgbClr val="000000"/>
                </a:solidFill>
                <a:latin typeface="Google Sans Flex"/>
                <a:ea typeface="Google Sans Flex"/>
                <a:cs typeface="Google Sans Flex"/>
              </a:defRPr>
            </a:lvl9pPr>
          </a:lstStyle>
          <a:p>
            <a:pPr>
              <a:defRPr sz="1125" b="0">
                <a:solidFill>
                  <a:srgbClr val="000000"/>
                </a:solidFill>
                <a:latin typeface="Google Sans Flex"/>
                <a:ea typeface="Google Sans Flex"/>
                <a:cs typeface="Google Sans Flex"/>
              </a:defRPr>
            </a:pPr>
            <a:r>
              <a:rPr sz="1125" b="0">
                <a:solidFill>
                  <a:srgbClr val="000000"/>
                </a:solidFill>
                <a:latin typeface="Google Sans Flex"/>
                <a:ea typeface="Google Sans Flex"/>
                <a:cs typeface="Google Sans Flex"/>
              </a:rPr>
              <a:t>Schematic layouts. Actual prototype screenshots appear on slide 11.</a:t>
            </a:r>
          </a:p>
        </p:txBody>
      </p:sp>
    </p:spTree>
  </p:cSld>
  <p:clrMapOvr>
    <a:masterClrMapping/>
  </p:clrMapOvr>
</p:sld>
</file>

<file path=ppt/slides/slide8.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nvGrpSpPr>
        <p:cNvPr id="1" name=""/>
        <p:cNvGrpSpPr/>
        <p:nvPr/>
      </p:nvGrpSpPr>
      <p:cxnSp>
        <p:nvCxnSpPr>
          <p:cNvPr id="120" name="">
            <a:extLst>
              <a:ext uri="{FF2B5EF4-FFF2-40B4-BE49-F238E27FC236}">
                <ns3:creationId id="{C5DE55E4-E6C1-4864-AFF0-DD5EA9CDEA29}"/>
              </a:ext>
            </a:extLst>
          </p:cNvPr>
          <p:cNvCxnSpPr>
            <a:stCxn id="116" idx="0"/>
            <a:endCxn id="113" idx="2"/>
          </p:cNvCxnSpPr>
          <p:nvPr/>
        </p:nvCxnSpPr>
        <p:spPr>
          <a:xfrm flipV="1">
            <a:off x="4267200" y="3067050"/>
            <a:ext cx="0" cy="695325"/>
          </a:xfrm>
          <a:prstGeom prst="straightConnector1">
            <a:avLst/>
          </a:prstGeom>
          <a:ln w="12383">
            <a:solidFill>
              <a:srgbClr val="000000"/>
            </a:solidFill>
            <a:tailEnd type="triangle" w="med" len="med"/>
          </a:ln>
        </p:spPr>
      </p:cxnSp>
      <p:cxnSp>
        <p:nvCxnSpPr>
          <p:cNvPr id="119" name="">
            <a:extLst>
              <a:ext uri="{FF2B5EF4-FFF2-40B4-BE49-F238E27FC236}">
                <ns3:creationId id="{CEA401D4-F557-4115-9E24-9C643A3F8E30}"/>
              </a:ext>
            </a:extLst>
          </p:cNvPr>
          <p:cNvCxnSpPr>
            <a:stCxn id="113" idx="3"/>
            <a:endCxn id="115" idx="1"/>
          </p:cNvCxnSpPr>
          <p:nvPr/>
        </p:nvCxnSpPr>
        <p:spPr>
          <a:xfrm>
            <a:off x="5553075" y="2676525"/>
            <a:ext cx="1200150" cy="623888"/>
          </a:xfrm>
          <a:prstGeom prst="straightConnector1">
            <a:avLst/>
          </a:prstGeom>
          <a:ln w="12383">
            <a:solidFill>
              <a:srgbClr val="000000"/>
            </a:solidFill>
            <a:tailEnd type="triangle" w="med" len="med"/>
          </a:ln>
        </p:spPr>
      </p:cxnSp>
      <p:cxnSp>
        <p:nvCxnSpPr>
          <p:cNvPr id="118" name="">
            <a:extLst>
              <a:ext uri="{FF2B5EF4-FFF2-40B4-BE49-F238E27FC236}">
                <ns3:creationId id="{15550C35-ABDB-411D-BBC0-34D718CB28BF}"/>
              </a:ext>
            </a:extLst>
          </p:cNvPr>
          <p:cNvCxnSpPr>
            <a:stCxn id="113" idx="3"/>
            <a:endCxn id="114" idx="1"/>
          </p:cNvCxnSpPr>
          <p:nvPr/>
        </p:nvCxnSpPr>
        <p:spPr>
          <a:xfrm flipV="1">
            <a:off x="5553075" y="1833563"/>
            <a:ext cx="1200150" cy="842963"/>
          </a:xfrm>
          <a:prstGeom prst="straightConnector1">
            <a:avLst/>
          </a:prstGeom>
          <a:ln w="12383">
            <a:solidFill>
              <a:srgbClr val="000000"/>
            </a:solidFill>
            <a:tailEnd type="triangle" w="med" len="med"/>
          </a:ln>
        </p:spPr>
      </p:cxnSp>
      <p:cxnSp>
        <p:nvCxnSpPr>
          <p:cNvPr id="117" name="">
            <a:extLst>
              <a:ext uri="{FF2B5EF4-FFF2-40B4-BE49-F238E27FC236}">
                <ns3:creationId id="{8BF79844-9A3A-4A77-8407-CB4AD706A1FE}"/>
              </a:ext>
            </a:extLst>
          </p:cNvPr>
          <p:cNvCxnSpPr>
            <a:stCxn id="112" idx="3"/>
            <a:endCxn id="113" idx="1"/>
          </p:cNvCxnSpPr>
          <p:nvPr/>
        </p:nvCxnSpPr>
        <p:spPr>
          <a:xfrm>
            <a:off x="2057400" y="2676525"/>
            <a:ext cx="923925" cy="0"/>
          </a:xfrm>
          <a:prstGeom prst="straightConnector1">
            <a:avLst/>
          </a:prstGeom>
          <a:ln w="12383">
            <a:solidFill>
              <a:srgbClr val="000000"/>
            </a:solidFill>
            <a:tailEnd type="triangle" w="med" len="med"/>
          </a:ln>
        </p:spPr>
      </p:cxnSp>
      <p:sp>
        <p:nvSpPr>
          <p:cNvPr id="112" name="">
            <a:extLst>
              <a:ext uri="{FF2B5EF4-FFF2-40B4-BE49-F238E27FC236}">
                <ns3:creationId id="{194113FF-C643-46FF-AD44-A29F8EC3554E}"/>
              </a:ext>
            </a:extLst>
          </p:cNvPr>
          <p:cNvSpPr>
            <a:spLocks noGrp="1"/>
          </p:cNvSpPr>
          <p:nvPr/>
        </p:nvSpPr>
        <p:spPr>
          <a:xfrm>
            <a:off x="361950" y="2286000"/>
            <a:ext cx="1695450" cy="7810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Browser</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Learner interface</a:t>
            </a:r>
          </a:p>
        </p:txBody>
      </p:sp>
      <p:sp>
        <p:nvSpPr>
          <p:cNvPr id="113" name="">
            <a:extLst>
              <a:ext uri="{FF2B5EF4-FFF2-40B4-BE49-F238E27FC236}">
                <ns3:creationId id="{4A1E1409-DC2B-4773-9571-D2C76E648FBE}"/>
              </a:ext>
            </a:extLst>
          </p:cNvPr>
          <p:cNvSpPr>
            <a:spLocks noGrp="1"/>
          </p:cNvSpPr>
          <p:nvPr/>
        </p:nvSpPr>
        <p:spPr>
          <a:xfrm>
            <a:off x="2981325" y="2286000"/>
            <a:ext cx="2571750" cy="781050"/>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Cloud Run</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Next.js app and APIs</a:t>
            </a:r>
          </a:p>
        </p:txBody>
      </p:sp>
      <p:sp>
        <p:nvSpPr>
          <p:cNvPr id="114" name="">
            <a:extLst>
              <a:ext uri="{FF2B5EF4-FFF2-40B4-BE49-F238E27FC236}">
                <ns3:creationId id="{CF1E9D42-B176-48E8-AEF4-DDD78188ADF4}"/>
              </a:ext>
            </a:extLst>
          </p:cNvPr>
          <p:cNvSpPr>
            <a:spLocks noGrp="1"/>
          </p:cNvSpPr>
          <p:nvPr/>
        </p:nvSpPr>
        <p:spPr>
          <a:xfrm>
            <a:off x="6753225" y="1428750"/>
            <a:ext cx="2047875" cy="809625"/>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Gemini API</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Lessons, chat, feedback</a:t>
            </a:r>
          </a:p>
        </p:txBody>
      </p:sp>
      <p:sp>
        <p:nvSpPr>
          <p:cNvPr id="115" name="">
            <a:extLst>
              <a:ext uri="{FF2B5EF4-FFF2-40B4-BE49-F238E27FC236}">
                <ns3:creationId id="{73DDACCF-AC65-4551-B474-E093FAD219AD}"/>
              </a:ext>
            </a:extLst>
          </p:cNvPr>
          <p:cNvSpPr>
            <a:spLocks noGrp="1"/>
          </p:cNvSpPr>
          <p:nvPr/>
        </p:nvSpPr>
        <p:spPr>
          <a:xfrm>
            <a:off x="6753225" y="2895600"/>
            <a:ext cx="2047875" cy="809625"/>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Cloud Firestore</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Material and sessions</a:t>
            </a:r>
          </a:p>
        </p:txBody>
      </p:sp>
      <p:sp>
        <p:nvSpPr>
          <p:cNvPr id="116" name="">
            <a:extLst>
              <a:ext uri="{FF2B5EF4-FFF2-40B4-BE49-F238E27FC236}">
                <ns3:creationId id="{04178BA0-3A51-433E-A35F-70B842532F6B}"/>
              </a:ext>
            </a:extLst>
          </p:cNvPr>
          <p:cNvSpPr>
            <a:spLocks noGrp="1"/>
          </p:cNvSpPr>
          <p:nvPr/>
        </p:nvSpPr>
        <p:spPr>
          <a:xfrm>
            <a:off x="2981325" y="3762375"/>
            <a:ext cx="2571750" cy="619125"/>
          </a:xfrm>
          <a:prstGeom prst="rect">
            <a:avLst/>
          </a:prstGeom>
          <a:solidFill>
            <a:srgbClr val="FFFFFF"/>
          </a:solidFill>
          <a:ln w="9525">
            <a:solidFill>
              <a:srgbClr val="000000"/>
            </a:solidFill>
          </a:ln>
        </p:spPr>
        <p:txBody>
          <a:bodyPr lIns="95250" tIns="95250" rIns="95250" bIns="95250" anchor="ctr"/>
          <a:lstStyle>
            <a:defPPr algn="ctr">
              <a:defRPr sz="1300">
                <a:solidFill>
                  <a:srgbClr val="000000"/>
                </a:solidFill>
                <a:latin typeface="Google Sans Flex"/>
                <a:ea typeface="Google Sans Flex"/>
                <a:cs typeface="Google Sans Flex"/>
              </a:defRPr>
            </a:defPPr>
            <a:lvl1pPr algn="ctr">
              <a:defRPr sz="1300">
                <a:solidFill>
                  <a:srgbClr val="000000"/>
                </a:solidFill>
                <a:latin typeface="Google Sans Flex"/>
                <a:ea typeface="Google Sans Flex"/>
                <a:cs typeface="Google Sans Flex"/>
              </a:defRPr>
            </a:lvl1pPr>
            <a:lvl2pPr algn="ctr">
              <a:defRPr sz="1300">
                <a:solidFill>
                  <a:srgbClr val="000000"/>
                </a:solidFill>
                <a:latin typeface="Google Sans Flex"/>
                <a:ea typeface="Google Sans Flex"/>
                <a:cs typeface="Google Sans Flex"/>
              </a:defRPr>
            </a:lvl2pPr>
            <a:lvl3pPr algn="ctr">
              <a:defRPr sz="1300">
                <a:solidFill>
                  <a:srgbClr val="000000"/>
                </a:solidFill>
                <a:latin typeface="Google Sans Flex"/>
                <a:ea typeface="Google Sans Flex"/>
                <a:cs typeface="Google Sans Flex"/>
              </a:defRPr>
            </a:lvl3pPr>
            <a:lvl4pPr algn="ctr">
              <a:defRPr sz="1300">
                <a:solidFill>
                  <a:srgbClr val="000000"/>
                </a:solidFill>
                <a:latin typeface="Google Sans Flex"/>
                <a:ea typeface="Google Sans Flex"/>
                <a:cs typeface="Google Sans Flex"/>
              </a:defRPr>
            </a:lvl4pPr>
            <a:lvl5pPr algn="ctr">
              <a:defRPr sz="1300">
                <a:solidFill>
                  <a:srgbClr val="000000"/>
                </a:solidFill>
                <a:latin typeface="Google Sans Flex"/>
                <a:ea typeface="Google Sans Flex"/>
                <a:cs typeface="Google Sans Flex"/>
              </a:defRPr>
            </a:lvl5pPr>
            <a:lvl6pPr algn="ctr">
              <a:defRPr sz="1300">
                <a:solidFill>
                  <a:srgbClr val="000000"/>
                </a:solidFill>
                <a:latin typeface="Google Sans Flex"/>
                <a:ea typeface="Google Sans Flex"/>
                <a:cs typeface="Google Sans Flex"/>
              </a:defRPr>
            </a:lvl6pPr>
            <a:lvl7pPr algn="ctr">
              <a:defRPr sz="1300">
                <a:solidFill>
                  <a:srgbClr val="000000"/>
                </a:solidFill>
                <a:latin typeface="Google Sans Flex"/>
                <a:ea typeface="Google Sans Flex"/>
                <a:cs typeface="Google Sans Flex"/>
              </a:defRPr>
            </a:lvl7pPr>
            <a:lvl8pPr algn="ctr">
              <a:defRPr sz="1300">
                <a:solidFill>
                  <a:srgbClr val="000000"/>
                </a:solidFill>
                <a:latin typeface="Google Sans Flex"/>
                <a:ea typeface="Google Sans Flex"/>
                <a:cs typeface="Google Sans Flex"/>
              </a:defRPr>
            </a:lvl8pPr>
            <a:lvl9pPr algn="ctr">
              <a:defRPr sz="1300">
                <a:solidFill>
                  <a:srgbClr val="000000"/>
                </a:solidFill>
                <a:latin typeface="Google Sans Flex"/>
                <a:ea typeface="Google Sans Flex"/>
                <a:cs typeface="Google Sans Flex"/>
              </a:defRPr>
            </a:lvl9pPr>
          </a:lstStyle>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Secret Manager</a:t>
            </a:r>
          </a:p>
          <a:p>
            <a:pPr algn="ctr">
              <a:defRPr sz="1300">
                <a:solidFill>
                  <a:srgbClr val="000000"/>
                </a:solidFill>
                <a:latin typeface="Google Sans Flex"/>
                <a:ea typeface="Google Sans Flex"/>
                <a:cs typeface="Google Sans Flex"/>
              </a:defRPr>
            </a:pPr>
            <a:r>
              <a:rPr sz="1300">
                <a:solidFill>
                  <a:srgbClr val="000000"/>
                </a:solidFill>
                <a:latin typeface="Google Sans Flex"/>
                <a:ea typeface="Google Sans Flex"/>
                <a:cs typeface="Google Sans Flex"/>
              </a:rPr>
              <a:t>Server-side credentials</a:t>
            </a:r>
          </a:p>
        </p:txBody>
      </p:sp>
      <p:sp>
        <p:nvSpPr>
          <p:cNvPr id="121" name="Server: validates AI replies, checks readiness, and re-runs board">
            <a:extLst>
              <a:ext uri="{FF2B5EF4-FFF2-40B4-BE49-F238E27FC236}">
                <ns3:creationId id="{E4B8860D-6100-461C-BB63-B8E0D3399E88}"/>
              </a:ext>
            </a:extLst>
          </p:cNvPr>
          <p:cNvSpPr>
            <a:spLocks noGrp="1"/>
          </p:cNvSpPr>
          <p:nvPr/>
        </p:nvSpPr>
        <p:spPr>
          <a:xfrm>
            <a:off x="361950" y="1333500"/>
            <a:ext cx="5857875" cy="571500"/>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Server: validates AI replies, checks readiness, and re-runs board and transfer calculations.</a:t>
            </a:r>
          </a:p>
        </p:txBody>
      </p:sp>
      <p:sp>
        <p:nvSpPr>
          <p:cNvPr id="122" name="Cloud Build and Artifact Registry deploy the app to Cloud Run in ">
            <a:extLst>
              <a:ext uri="{FF2B5EF4-FFF2-40B4-BE49-F238E27FC236}">
                <ns3:creationId id="{10F10E60-7E83-4CEC-825E-14CF0F9AF948}"/>
              </a:ext>
            </a:extLst>
          </p:cNvPr>
          <p:cNvSpPr>
            <a:spLocks noGrp="1"/>
          </p:cNvSpPr>
          <p:nvPr/>
        </p:nvSpPr>
        <p:spPr>
          <a:xfrm>
            <a:off x="361950" y="4629150"/>
            <a:ext cx="8382000" cy="276225"/>
          </a:xfrm>
          <a:prstGeom prst="rect">
            <a:avLst/>
          </a:prstGeom>
          <a:noFill/>
          <a:ln w="0">
            <a:noFill/>
          </a:ln>
        </p:spPr>
        <p:txBody>
          <a:bodyPr lIns="0" tIns="0" rIns="0" bIns="0" anchor="t"/>
          <a:lstStyle>
            <a:defPPr>
              <a:defRPr sz="1200" b="0">
                <a:solidFill>
                  <a:srgbClr val="000000"/>
                </a:solidFill>
                <a:latin typeface="Google Sans Flex"/>
                <a:ea typeface="Google Sans Flex"/>
                <a:cs typeface="Google Sans Flex"/>
              </a:defRPr>
            </a:defPPr>
            <a:lvl1pPr>
              <a:defRPr sz="1200" b="0">
                <a:solidFill>
                  <a:srgbClr val="000000"/>
                </a:solidFill>
                <a:latin typeface="Google Sans Flex"/>
                <a:ea typeface="Google Sans Flex"/>
                <a:cs typeface="Google Sans Flex"/>
              </a:defRPr>
            </a:lvl1pPr>
            <a:lvl2pPr>
              <a:defRPr sz="1200" b="0">
                <a:solidFill>
                  <a:srgbClr val="000000"/>
                </a:solidFill>
                <a:latin typeface="Google Sans Flex"/>
                <a:ea typeface="Google Sans Flex"/>
                <a:cs typeface="Google Sans Flex"/>
              </a:defRPr>
            </a:lvl2pPr>
            <a:lvl3pPr>
              <a:defRPr sz="1200" b="0">
                <a:solidFill>
                  <a:srgbClr val="000000"/>
                </a:solidFill>
                <a:latin typeface="Google Sans Flex"/>
                <a:ea typeface="Google Sans Flex"/>
                <a:cs typeface="Google Sans Flex"/>
              </a:defRPr>
            </a:lvl3pPr>
            <a:lvl4pPr>
              <a:defRPr sz="1200" b="0">
                <a:solidFill>
                  <a:srgbClr val="000000"/>
                </a:solidFill>
                <a:latin typeface="Google Sans Flex"/>
                <a:ea typeface="Google Sans Flex"/>
                <a:cs typeface="Google Sans Flex"/>
              </a:defRPr>
            </a:lvl4pPr>
            <a:lvl5pPr>
              <a:defRPr sz="1200" b="0">
                <a:solidFill>
                  <a:srgbClr val="000000"/>
                </a:solidFill>
                <a:latin typeface="Google Sans Flex"/>
                <a:ea typeface="Google Sans Flex"/>
                <a:cs typeface="Google Sans Flex"/>
              </a:defRPr>
            </a:lvl5pPr>
            <a:lvl6pPr>
              <a:defRPr sz="1200" b="0">
                <a:solidFill>
                  <a:srgbClr val="000000"/>
                </a:solidFill>
                <a:latin typeface="Google Sans Flex"/>
                <a:ea typeface="Google Sans Flex"/>
                <a:cs typeface="Google Sans Flex"/>
              </a:defRPr>
            </a:lvl6pPr>
            <a:lvl7pPr>
              <a:defRPr sz="1200" b="0">
                <a:solidFill>
                  <a:srgbClr val="000000"/>
                </a:solidFill>
                <a:latin typeface="Google Sans Flex"/>
                <a:ea typeface="Google Sans Flex"/>
                <a:cs typeface="Google Sans Flex"/>
              </a:defRPr>
            </a:lvl7pPr>
            <a:lvl8pPr>
              <a:defRPr sz="1200" b="0">
                <a:solidFill>
                  <a:srgbClr val="000000"/>
                </a:solidFill>
                <a:latin typeface="Google Sans Flex"/>
                <a:ea typeface="Google Sans Flex"/>
                <a:cs typeface="Google Sans Flex"/>
              </a:defRPr>
            </a:lvl8pPr>
            <a:lvl9pPr>
              <a:defRPr sz="1200" b="0">
                <a:solidFill>
                  <a:srgbClr val="000000"/>
                </a:solidFill>
                <a:latin typeface="Google Sans Flex"/>
                <a:ea typeface="Google Sans Flex"/>
                <a:cs typeface="Google Sans Flex"/>
              </a:defRPr>
            </a:lvl9pPr>
          </a:lstStyle>
          <a:p>
            <a:pPr>
              <a:defRPr sz="1200" b="0">
                <a:solidFill>
                  <a:srgbClr val="000000"/>
                </a:solidFill>
                <a:latin typeface="Google Sans Flex"/>
                <a:ea typeface="Google Sans Flex"/>
                <a:cs typeface="Google Sans Flex"/>
              </a:defRPr>
            </a:pPr>
            <a:r>
              <a:rPr sz="1200" b="0">
                <a:solidFill>
                  <a:srgbClr val="000000"/>
                </a:solidFill>
                <a:latin typeface="Google Sans Flex"/>
                <a:ea typeface="Google Sans Flex"/>
                <a:cs typeface="Google Sans Flex"/>
              </a:rPr>
              <a:t>Cloud Build and Artifact Registry deploy the app to Cloud Run in Singapore.</a:t>
            </a:r>
          </a:p>
        </p:txBody>
      </p:sp>
    </p:spTree>
  </p:cSld>
  <p:clrMapOvr>
    <a:masterClrMapping/>
  </p:clrMapOvr>
</p:sld>
</file>

<file path=ppt/slides/slide9.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nvGrpSpPr>
        <p:cNvPr id="1" name=""/>
        <p:cNvGrpSpPr/>
        <p:nvPr/>
      </p:nvGrpSpPr>
      <p:graphicFrame>
        <p:nvGraphicFramePr>
          <p:cNvPr id="120" name="">
            <a:extLst>
              <a:ext uri="{FF2B5EF4-FFF2-40B4-BE49-F238E27FC236}">
                <ns3:creationId id="{BEDD789E-73A9-4C49-92CB-EB3E7F04F043}"/>
              </a:ext>
            </a:extLst>
          </p:cNvPr>
          <p:cNvGraphicFramePr/>
          <p:nvPr/>
        </p:nvGraphicFramePr>
        <p:xfrm>
          <a:off x="361950" y="1409700"/>
          <a:ext cx="8429625" cy="3267075"/>
        </p:xfrm>
        <a:graphic>
          <a:graphicData uri="http://schemas.openxmlformats.org/drawingml/2006/table">
            <a:tbl>
              <a:tblPr/>
              <a:tblGrid>
                <a:gridCol w="2886075"/>
                <a:gridCol w="5543550"/>
              </a:tblGrid>
              <a:tr h="408384">
                <a:tc>
                  <a:txBody>
                    <a:bodyPr/>
                    <a:lstStyle/>
                    <a:p>
                      <a:r>
                        <a:rPr sz="1200" b="1">
                          <a:solidFill>
                            <a:srgbClr val="000000"/>
                          </a:solidFill>
                          <a:latin typeface="Google Sans Flex"/>
                          <a:ea typeface="Google Sans Flex"/>
                          <a:cs typeface="Google Sans Flex"/>
                        </a:rPr>
                        <a:t>Technology</a:t>
                      </a:r>
                    </a:p>
                  </a:txBody>
                  <a:tcPr marL="91440" marR="91440" marT="45720" marB="45720">
                    <a:lnL w="4763">
                      <a:solidFill>
                        <a:srgbClr val="DDDDDD"/>
                      </a:solidFill>
                      <a:prstDash val="solid"/>
                    </a:lnL>
                    <a:lnR w="4763">
                      <a:solidFill>
                        <a:srgbClr val="DDDDDD"/>
                      </a:solidFill>
                      <a:prstDash val="solid"/>
                    </a:lnR>
                    <a:lnT w="4763">
                      <a:solidFill>
                        <a:srgbClr val="DDDDDD"/>
                      </a:solidFill>
                      <a:prstDash val="solid"/>
                    </a:lnT>
                    <a:lnB w="4763">
                      <a:solidFill>
                        <a:srgbClr val="DDDDDD"/>
                      </a:solidFill>
                      <a:prstDash val="solid"/>
                    </a:lnB>
                    <a:solidFill>
                      <a:srgbClr val="EDEDED"/>
                    </a:solidFill>
                  </a:tcPr>
                </a:tc>
                <a:tc>
                  <a:txBody>
                    <a:bodyPr/>
                    <a:lstStyle/>
                    <a:p>
                      <a:r>
                        <a:rPr sz="1200" b="1">
                          <a:solidFill>
                            <a:srgbClr val="000000"/>
                          </a:solidFill>
                          <a:latin typeface="Google Sans Flex"/>
                          <a:ea typeface="Google Sans Flex"/>
                          <a:cs typeface="Google Sans Flex"/>
                        </a:rPr>
                        <a:t>Role in the prototype</a:t>
                      </a:r>
                    </a:p>
                  </a:txBody>
                  <a:tcPr marL="91440" marR="91440" marT="45720" marB="45720">
                    <a:lnR w="4763">
                      <a:solidFill>
                        <a:srgbClr val="DDDDDD"/>
                      </a:solidFill>
                      <a:prstDash val="solid"/>
                    </a:lnR>
                    <a:lnT w="4763">
                      <a:solidFill>
                        <a:srgbClr val="DDDDDD"/>
                      </a:solidFill>
                      <a:prstDash val="solid"/>
                    </a:lnT>
                    <a:lnB w="4763">
                      <a:solidFill>
                        <a:srgbClr val="DDDDDD"/>
                      </a:solidFill>
                      <a:prstDash val="solid"/>
                    </a:lnB>
                    <a:solidFill>
                      <a:srgbClr val="EDEDED"/>
                    </a:solidFill>
                  </a:tcPr>
                </a:tc>
              </a:tr>
              <a:tr h="408384">
                <a:tc>
                  <a:txBody>
                    <a:bodyPr/>
                    <a:lstStyle/>
                    <a:p>
                      <a:r>
                        <a:rPr sz="1200" b="0">
                          <a:solidFill>
                            <a:srgbClr val="000000"/>
                          </a:solidFill>
                          <a:latin typeface="Google Sans Flex"/>
                          <a:ea typeface="Google Sans Flex"/>
                          <a:cs typeface="Google Sans Flex"/>
                        </a:rPr>
                        <a:t>Gemini and Google Gen AI SDK</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Extract content and generate lessons, activities, chat and feedback</a:t>
                      </a:r>
                    </a:p>
                  </a:txBody>
                  <a:tcPr marL="91440" marR="91440" marT="45720" marB="45720">
                    <a:lnR w="4763">
                      <a:solidFill>
                        <a:srgbClr val="DDDDDD"/>
                      </a:solidFill>
                      <a:prstDash val="solid"/>
                    </a:lnR>
                    <a:lnB w="4763">
                      <a:solidFill>
                        <a:srgbClr val="DDDDDD"/>
                      </a:solidFill>
                      <a:prstDash val="solid"/>
                    </a:lnB>
                    <a:solidFill>
                      <a:srgbClr val="FFFFFF"/>
                    </a:solidFill>
                  </a:tcPr>
                </a:tc>
              </a:tr>
              <a:tr h="408384">
                <a:tc>
                  <a:txBody>
                    <a:bodyPr/>
                    <a:lstStyle/>
                    <a:p>
                      <a:r>
                        <a:rPr sz="1200" b="0">
                          <a:solidFill>
                            <a:srgbClr val="000000"/>
                          </a:solidFill>
                          <a:latin typeface="Google Sans Flex"/>
                          <a:ea typeface="Google Sans Flex"/>
                          <a:cs typeface="Google Sans Flex"/>
                        </a:rPr>
                        <a:t>Next.js, React and TypeScript</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Website and server API routes</a:t>
                      </a:r>
                    </a:p>
                  </a:txBody>
                  <a:tcPr marL="91440" marR="91440" marT="45720" marB="45720">
                    <a:lnR w="4763">
                      <a:solidFill>
                        <a:srgbClr val="DDDDDD"/>
                      </a:solidFill>
                      <a:prstDash val="solid"/>
                    </a:lnR>
                    <a:lnB w="4763">
                      <a:solidFill>
                        <a:srgbClr val="DDDDDD"/>
                      </a:solidFill>
                      <a:prstDash val="solid"/>
                    </a:lnB>
                    <a:solidFill>
                      <a:srgbClr val="FFFFFF"/>
                    </a:solidFill>
                  </a:tcPr>
                </a:tc>
              </a:tr>
              <a:tr h="408384">
                <a:tc>
                  <a:txBody>
                    <a:bodyPr/>
                    <a:lstStyle/>
                    <a:p>
                      <a:r>
                        <a:rPr sz="1200" b="0">
                          <a:solidFill>
                            <a:srgbClr val="000000"/>
                          </a:solidFill>
                          <a:latin typeface="Google Sans Flex"/>
                          <a:ea typeface="Google Sans Flex"/>
                          <a:cs typeface="Google Sans Flex"/>
                        </a:rPr>
                        <a:t>Cloud Run</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Host the containerized app in Singapore</a:t>
                      </a:r>
                    </a:p>
                  </a:txBody>
                  <a:tcPr marL="91440" marR="91440" marT="45720" marB="45720">
                    <a:lnR w="4763">
                      <a:solidFill>
                        <a:srgbClr val="DDDDDD"/>
                      </a:solidFill>
                      <a:prstDash val="solid"/>
                    </a:lnR>
                    <a:lnB w="4763">
                      <a:solidFill>
                        <a:srgbClr val="DDDDDD"/>
                      </a:solidFill>
                      <a:prstDash val="solid"/>
                    </a:lnB>
                    <a:solidFill>
                      <a:srgbClr val="FFFFFF"/>
                    </a:solidFill>
                  </a:tcPr>
                </a:tc>
              </a:tr>
              <a:tr h="408384">
                <a:tc>
                  <a:txBody>
                    <a:bodyPr/>
                    <a:lstStyle/>
                    <a:p>
                      <a:r>
                        <a:rPr sz="1200" b="0">
                          <a:solidFill>
                            <a:srgbClr val="000000"/>
                          </a:solidFill>
                          <a:latin typeface="Google Sans Flex"/>
                          <a:ea typeface="Google Sans Flex"/>
                          <a:cs typeface="Google Sans Flex"/>
                        </a:rPr>
                        <a:t>Cloud Firestore</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Store material, lessons, conversations and evidence with expiry</a:t>
                      </a:r>
                    </a:p>
                  </a:txBody>
                  <a:tcPr marL="91440" marR="91440" marT="45720" marB="45720">
                    <a:lnR w="4763">
                      <a:solidFill>
                        <a:srgbClr val="DDDDDD"/>
                      </a:solidFill>
                      <a:prstDash val="solid"/>
                    </a:lnR>
                    <a:lnB w="4763">
                      <a:solidFill>
                        <a:srgbClr val="DDDDDD"/>
                      </a:solidFill>
                      <a:prstDash val="solid"/>
                    </a:lnB>
                    <a:solidFill>
                      <a:srgbClr val="FFFFFF"/>
                    </a:solidFill>
                  </a:tcPr>
                </a:tc>
              </a:tr>
              <a:tr h="408384">
                <a:tc>
                  <a:txBody>
                    <a:bodyPr/>
                    <a:lstStyle/>
                    <a:p>
                      <a:r>
                        <a:rPr sz="1200" b="0">
                          <a:solidFill>
                            <a:srgbClr val="000000"/>
                          </a:solidFill>
                          <a:latin typeface="Google Sans Flex"/>
                          <a:ea typeface="Google Sans Flex"/>
                          <a:cs typeface="Google Sans Flex"/>
                        </a:rPr>
                        <a:t>Cloud Build and Artifact Registry</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Build and deploy the application container</a:t>
                      </a:r>
                    </a:p>
                  </a:txBody>
                  <a:tcPr marL="91440" marR="91440" marT="45720" marB="45720">
                    <a:lnR w="4763">
                      <a:solidFill>
                        <a:srgbClr val="DDDDDD"/>
                      </a:solidFill>
                      <a:prstDash val="solid"/>
                    </a:lnR>
                    <a:lnB w="4763">
                      <a:solidFill>
                        <a:srgbClr val="DDDDDD"/>
                      </a:solidFill>
                      <a:prstDash val="solid"/>
                    </a:lnB>
                    <a:solidFill>
                      <a:srgbClr val="FFFFFF"/>
                    </a:solidFill>
                  </a:tcPr>
                </a:tc>
              </a:tr>
              <a:tr h="408384">
                <a:tc>
                  <a:txBody>
                    <a:bodyPr/>
                    <a:lstStyle/>
                    <a:p>
                      <a:r>
                        <a:rPr sz="1200" b="0">
                          <a:solidFill>
                            <a:srgbClr val="000000"/>
                          </a:solidFill>
                          <a:latin typeface="Google Sans Flex"/>
                          <a:ea typeface="Google Sans Flex"/>
                          <a:cs typeface="Google Sans Flex"/>
                        </a:rPr>
                        <a:t>Secret Manager</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Keep API keys and authentication secrets on the server</a:t>
                      </a:r>
                    </a:p>
                  </a:txBody>
                  <a:tcPr marL="91440" marR="91440" marT="45720" marB="45720">
                    <a:lnR w="4763">
                      <a:solidFill>
                        <a:srgbClr val="DDDDDD"/>
                      </a:solidFill>
                      <a:prstDash val="solid"/>
                    </a:lnR>
                    <a:lnB w="4763">
                      <a:solidFill>
                        <a:srgbClr val="DDDDDD"/>
                      </a:solidFill>
                      <a:prstDash val="solid"/>
                    </a:lnB>
                    <a:solidFill>
                      <a:srgbClr val="FFFFFF"/>
                    </a:solidFill>
                  </a:tcPr>
                </a:tc>
              </a:tr>
              <a:tr h="408384">
                <a:tc>
                  <a:txBody>
                    <a:bodyPr/>
                    <a:lstStyle/>
                    <a:p>
                      <a:r>
                        <a:rPr sz="1200" b="0">
                          <a:solidFill>
                            <a:srgbClr val="000000"/>
                          </a:solidFill>
                          <a:latin typeface="Google Sans Flex"/>
                          <a:ea typeface="Google Sans Flex"/>
                          <a:cs typeface="Google Sans Flex"/>
                        </a:rPr>
                        <a:t>Zod and calculation sandbox</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Validate structured replies and verify numeric calculations</a:t>
                      </a:r>
                    </a:p>
                  </a:txBody>
                  <a:tcPr marL="91440" marR="91440" marT="45720" marB="45720">
                    <a:lnR w="4763">
                      <a:solidFill>
                        <a:srgbClr val="DDDDDD"/>
                      </a:solidFill>
                      <a:prstDash val="solid"/>
                    </a:lnR>
                    <a:lnB w="4763">
                      <a:solidFill>
                        <a:srgbClr val="DDDDDD"/>
                      </a:solidFill>
                      <a:prstDash val="soli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nvGrpSpPr>
        <p:cNvPr id="1" name=""/>
        <p:cNvGrpSpPr/>
        <p:nvPr/>
      </p:nvGrpSpPr>
      <p:sp>
        <p:nvSpPr>
          <p:cNvPr id="128" name="Free-tier inference: US$0 only for eligible use within the projec">
            <a:extLst>
              <a:ext uri="{FF2B5EF4-FFF2-40B4-BE49-F238E27FC236}">
                <ns3:creationId id="{DAACBA6A-2E30-4533-B18E-ECA4EC5BF60E}"/>
              </a:ext>
            </a:extLst>
          </p:cNvPr>
          <p:cNvSpPr>
            <a:spLocks noGrp="1"/>
          </p:cNvSpPr>
          <p:nvPr/>
        </p:nvSpPr>
        <p:spPr>
          <a:xfrm>
            <a:off x="361950" y="1409700"/>
            <a:ext cx="8429625" cy="381000"/>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Free-tier inference: US$0 only for eligible use within the project’s actual quota.</a:t>
            </a:r>
          </a:p>
        </p:txBody>
      </p:sp>
      <p:sp>
        <p:nvSpPr>
          <p:cNvPr id="129" name="Illustrative paid equivalent for Gemini 3.5 Flash-Lite, standard ">
            <a:extLst>
              <a:ext uri="{FF2B5EF4-FFF2-40B4-BE49-F238E27FC236}">
                <ns3:creationId id="{60A49FCF-4107-4D87-963E-6C91ED1174B7}"/>
              </a:ext>
            </a:extLst>
          </p:cNvPr>
          <p:cNvSpPr>
            <a:spLocks noGrp="1"/>
          </p:cNvSpPr>
          <p:nvPr/>
        </p:nvSpPr>
        <p:spPr>
          <a:xfrm>
            <a:off x="361950" y="1943100"/>
            <a:ext cx="8429625" cy="285750"/>
          </a:xfrm>
          <a:prstGeom prst="rect">
            <a:avLst/>
          </a:prstGeom>
          <a:noFill/>
          <a:ln w="0">
            <a:noFill/>
          </a:ln>
        </p:spPr>
        <p:txBody>
          <a:bodyPr lIns="0" tIns="0" rIns="0" bIns="0" anchor="t"/>
          <a:lstStyle>
            <a:defPPr>
              <a:defRPr sz="1300" b="1">
                <a:solidFill>
                  <a:srgbClr val="000000"/>
                </a:solidFill>
                <a:latin typeface="Google Sans Flex"/>
                <a:ea typeface="Google Sans Flex"/>
                <a:cs typeface="Google Sans Flex"/>
              </a:defRPr>
            </a:defPPr>
            <a:lvl1pPr>
              <a:defRPr sz="1300" b="1">
                <a:solidFill>
                  <a:srgbClr val="000000"/>
                </a:solidFill>
                <a:latin typeface="Google Sans Flex"/>
                <a:ea typeface="Google Sans Flex"/>
                <a:cs typeface="Google Sans Flex"/>
              </a:defRPr>
            </a:lvl1pPr>
            <a:lvl2pPr>
              <a:defRPr sz="1300" b="1">
                <a:solidFill>
                  <a:srgbClr val="000000"/>
                </a:solidFill>
                <a:latin typeface="Google Sans Flex"/>
                <a:ea typeface="Google Sans Flex"/>
                <a:cs typeface="Google Sans Flex"/>
              </a:defRPr>
            </a:lvl2pPr>
            <a:lvl3pPr>
              <a:defRPr sz="1300" b="1">
                <a:solidFill>
                  <a:srgbClr val="000000"/>
                </a:solidFill>
                <a:latin typeface="Google Sans Flex"/>
                <a:ea typeface="Google Sans Flex"/>
                <a:cs typeface="Google Sans Flex"/>
              </a:defRPr>
            </a:lvl3pPr>
            <a:lvl4pPr>
              <a:defRPr sz="1300" b="1">
                <a:solidFill>
                  <a:srgbClr val="000000"/>
                </a:solidFill>
                <a:latin typeface="Google Sans Flex"/>
                <a:ea typeface="Google Sans Flex"/>
                <a:cs typeface="Google Sans Flex"/>
              </a:defRPr>
            </a:lvl4pPr>
            <a:lvl5pPr>
              <a:defRPr sz="1300" b="1">
                <a:solidFill>
                  <a:srgbClr val="000000"/>
                </a:solidFill>
                <a:latin typeface="Google Sans Flex"/>
                <a:ea typeface="Google Sans Flex"/>
                <a:cs typeface="Google Sans Flex"/>
              </a:defRPr>
            </a:lvl5pPr>
            <a:lvl6pPr>
              <a:defRPr sz="1300" b="1">
                <a:solidFill>
                  <a:srgbClr val="000000"/>
                </a:solidFill>
                <a:latin typeface="Google Sans Flex"/>
                <a:ea typeface="Google Sans Flex"/>
                <a:cs typeface="Google Sans Flex"/>
              </a:defRPr>
            </a:lvl6pPr>
            <a:lvl7pPr>
              <a:defRPr sz="1300" b="1">
                <a:solidFill>
                  <a:srgbClr val="000000"/>
                </a:solidFill>
                <a:latin typeface="Google Sans Flex"/>
                <a:ea typeface="Google Sans Flex"/>
                <a:cs typeface="Google Sans Flex"/>
              </a:defRPr>
            </a:lvl7pPr>
            <a:lvl8pPr>
              <a:defRPr sz="1300" b="1">
                <a:solidFill>
                  <a:srgbClr val="000000"/>
                </a:solidFill>
                <a:latin typeface="Google Sans Flex"/>
                <a:ea typeface="Google Sans Flex"/>
                <a:cs typeface="Google Sans Flex"/>
              </a:defRPr>
            </a:lvl8pPr>
            <a:lvl9pPr>
              <a:defRPr sz="1300" b="1">
                <a:solidFill>
                  <a:srgbClr val="000000"/>
                </a:solidFill>
                <a:latin typeface="Google Sans Flex"/>
                <a:ea typeface="Google Sans Flex"/>
                <a:cs typeface="Google Sans Flex"/>
              </a:defRPr>
            </a:lvl9pPr>
          </a:lstStyle>
          <a:p>
            <a:pPr>
              <a:defRPr sz="1300" b="1">
                <a:solidFill>
                  <a:srgbClr val="000000"/>
                </a:solidFill>
                <a:latin typeface="Google Sans Flex"/>
                <a:ea typeface="Google Sans Flex"/>
                <a:cs typeface="Google Sans Flex"/>
              </a:defRPr>
            </a:pPr>
            <a:r>
              <a:rPr sz="1300" b="1">
                <a:solidFill>
                  <a:srgbClr val="000000"/>
                </a:solidFill>
                <a:latin typeface="Google Sans Flex"/>
                <a:ea typeface="Google Sans Flex"/>
                <a:cs typeface="Google Sans Flex"/>
              </a:rPr>
              <a:t>Illustrative paid equivalent for Gemini 3.5 Flash-Lite, standard rates</a:t>
            </a:r>
          </a:p>
        </p:txBody>
      </p:sp>
      <p:graphicFrame>
        <p:nvGraphicFramePr>
          <p:cNvPr id="130" name="">
            <a:extLst>
              <a:ext uri="{FF2B5EF4-FFF2-40B4-BE49-F238E27FC236}">
                <ns3:creationId id="{7034A6CE-11B4-4CDB-988B-F23060C8F548}"/>
              </a:ext>
            </a:extLst>
          </p:cNvPr>
          <p:cNvGraphicFramePr/>
          <p:nvPr/>
        </p:nvGraphicFramePr>
        <p:xfrm>
          <a:off x="361950" y="2352675"/>
          <a:ext cx="8429625" cy="1533525"/>
        </p:xfrm>
        <a:graphic>
          <a:graphicData uri="http://schemas.openxmlformats.org/drawingml/2006/table">
            <a:tbl>
              <a:tblPr/>
              <a:tblGrid>
                <a:gridCol w="4200525"/>
                <a:gridCol w="4229100"/>
              </a:tblGrid>
              <a:tr h="383381">
                <a:tc>
                  <a:txBody>
                    <a:bodyPr/>
                    <a:lstStyle/>
                    <a:p>
                      <a:r>
                        <a:rPr sz="1200" b="1">
                          <a:solidFill>
                            <a:srgbClr val="000000"/>
                          </a:solidFill>
                          <a:latin typeface="Google Sans Flex"/>
                          <a:ea typeface="Google Sans Flex"/>
                          <a:cs typeface="Google Sans Flex"/>
                        </a:rPr>
                        <a:t>Assumption / calculation</a:t>
                      </a:r>
                    </a:p>
                  </a:txBody>
                  <a:tcPr marL="91440" marR="91440" marT="45720" marB="45720">
                    <a:lnL w="4763">
                      <a:solidFill>
                        <a:srgbClr val="DDDDDD"/>
                      </a:solidFill>
                      <a:prstDash val="solid"/>
                    </a:lnL>
                    <a:lnR w="4763">
                      <a:solidFill>
                        <a:srgbClr val="DDDDDD"/>
                      </a:solidFill>
                      <a:prstDash val="solid"/>
                    </a:lnR>
                    <a:lnT w="4763">
                      <a:solidFill>
                        <a:srgbClr val="DDDDDD"/>
                      </a:solidFill>
                      <a:prstDash val="solid"/>
                    </a:lnT>
                    <a:lnB w="4763">
                      <a:solidFill>
                        <a:srgbClr val="DDDDDD"/>
                      </a:solidFill>
                      <a:prstDash val="solid"/>
                    </a:lnB>
                    <a:solidFill>
                      <a:srgbClr val="EDEDED"/>
                    </a:solidFill>
                  </a:tcPr>
                </a:tc>
                <a:tc>
                  <a:txBody>
                    <a:bodyPr/>
                    <a:lstStyle/>
                    <a:p>
                      <a:r>
                        <a:rPr sz="1200" b="1">
                          <a:solidFill>
                            <a:srgbClr val="000000"/>
                          </a:solidFill>
                          <a:latin typeface="Google Sans Flex"/>
                          <a:ea typeface="Google Sans Flex"/>
                          <a:cs typeface="Google Sans Flex"/>
                        </a:rPr>
                        <a:t>1,000 illustrative sessions</a:t>
                      </a:r>
                    </a:p>
                  </a:txBody>
                  <a:tcPr marL="91440" marR="91440" marT="45720" marB="45720">
                    <a:lnR w="4763">
                      <a:solidFill>
                        <a:srgbClr val="DDDDDD"/>
                      </a:solidFill>
                      <a:prstDash val="solid"/>
                    </a:lnR>
                    <a:lnT w="4763">
                      <a:solidFill>
                        <a:srgbClr val="DDDDDD"/>
                      </a:solidFill>
                      <a:prstDash val="solid"/>
                    </a:lnT>
                    <a:lnB w="4763">
                      <a:solidFill>
                        <a:srgbClr val="DDDDDD"/>
                      </a:solidFill>
                      <a:prstDash val="solid"/>
                    </a:lnB>
                    <a:solidFill>
                      <a:srgbClr val="EDEDED"/>
                    </a:solidFill>
                  </a:tcPr>
                </a:tc>
              </a:tr>
              <a:tr h="383381">
                <a:tc>
                  <a:txBody>
                    <a:bodyPr/>
                    <a:lstStyle/>
                    <a:p>
                      <a:r>
                        <a:rPr sz="1200" b="0">
                          <a:solidFill>
                            <a:srgbClr val="000000"/>
                          </a:solidFill>
                          <a:latin typeface="Google Sans Flex"/>
                          <a:ea typeface="Google Sans Flex"/>
                          <a:cs typeface="Google Sans Flex"/>
                        </a:rPr>
                        <a:t>12 calls × 1,500 input tokens per session</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18M input tokens × US$0.30/M = US$5.40</a:t>
                      </a:r>
                    </a:p>
                  </a:txBody>
                  <a:tcPr marL="91440" marR="91440" marT="45720" marB="45720">
                    <a:lnR w="4763">
                      <a:solidFill>
                        <a:srgbClr val="DDDDDD"/>
                      </a:solidFill>
                      <a:prstDash val="solid"/>
                    </a:lnR>
                    <a:lnB w="4763">
                      <a:solidFill>
                        <a:srgbClr val="DDDDDD"/>
                      </a:solidFill>
                      <a:prstDash val="solid"/>
                    </a:lnB>
                    <a:solidFill>
                      <a:srgbClr val="FFFFFF"/>
                    </a:solidFill>
                  </a:tcPr>
                </a:tc>
              </a:tr>
              <a:tr h="383381">
                <a:tc>
                  <a:txBody>
                    <a:bodyPr/>
                    <a:lstStyle/>
                    <a:p>
                      <a:r>
                        <a:rPr sz="1200" b="0">
                          <a:solidFill>
                            <a:srgbClr val="000000"/>
                          </a:solidFill>
                          <a:latin typeface="Google Sans Flex"/>
                          <a:ea typeface="Google Sans Flex"/>
                          <a:cs typeface="Google Sans Flex"/>
                        </a:rPr>
                        <a:t>12 calls × 450 output tokens per session</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5.4M output tokens × US$2.50/M = US$13.50</a:t>
                      </a:r>
                    </a:p>
                  </a:txBody>
                  <a:tcPr marL="91440" marR="91440" marT="45720" marB="45720">
                    <a:lnR w="4763">
                      <a:solidFill>
                        <a:srgbClr val="DDDDDD"/>
                      </a:solidFill>
                      <a:prstDash val="solid"/>
                    </a:lnR>
                    <a:lnB w="4763">
                      <a:solidFill>
                        <a:srgbClr val="DDDDDD"/>
                      </a:solidFill>
                      <a:prstDash val="solid"/>
                    </a:lnB>
                    <a:solidFill>
                      <a:srgbClr val="FFFFFF"/>
                    </a:solidFill>
                  </a:tcPr>
                </a:tc>
              </a:tr>
              <a:tr h="383381">
                <a:tc>
                  <a:txBody>
                    <a:bodyPr/>
                    <a:lstStyle/>
                    <a:p>
                      <a:r>
                        <a:rPr sz="1200" b="0">
                          <a:solidFill>
                            <a:srgbClr val="000000"/>
                          </a:solidFill>
                          <a:latin typeface="Google Sans Flex"/>
                          <a:ea typeface="Google Sans Flex"/>
                          <a:cs typeface="Google Sans Flex"/>
                        </a:rPr>
                        <a:t>Gemini API only</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US$18.90 total, or US$0.0189 per session</a:t>
                      </a:r>
                    </a:p>
                  </a:txBody>
                  <a:tcPr marL="91440" marR="91440" marT="45720" marB="45720">
                    <a:lnR w="4763">
                      <a:solidFill>
                        <a:srgbClr val="DDDDDD"/>
                      </a:solidFill>
                      <a:prstDash val="solid"/>
                    </a:lnR>
                    <a:lnB w="4763">
                      <a:solidFill>
                        <a:srgbClr val="DDDDDD"/>
                      </a:solidFill>
                      <a:prstDash val="solid"/>
                    </a:lnB>
                    <a:solidFill>
                      <a:srgbClr val="FFFFFF"/>
                    </a:solidFill>
                  </a:tcPr>
                </a:tc>
              </a:tr>
            </a:tbl>
          </a:graphicData>
        </a:graphic>
      </p:graphicFrame>
      <p:sp>
        <p:nvSpPr>
          <p:cNvPr id="131" name="Usage assumptions are illustrative. Output includes thinking toke">
            <a:extLst>
              <a:ext uri="{FF2B5EF4-FFF2-40B4-BE49-F238E27FC236}">
                <ns3:creationId id="{CC681EAF-E69E-4598-8747-713AADA1E93A}"/>
              </a:ext>
            </a:extLst>
          </p:cNvPr>
          <p:cNvSpPr>
            <a:spLocks noGrp="1"/>
          </p:cNvSpPr>
          <p:nvPr/>
        </p:nvSpPr>
        <p:spPr>
          <a:xfrm>
            <a:off x="361950" y="4171950"/>
            <a:ext cx="8429625" cy="5810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Usage assumptions are illustrative. Output includes thinking tokens. Hosting, Firestore and</a:t>
            </a:r>
          </a:p>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deployment charges are separate. The benchmark on slide 12 reports observed API usage.</a:t>
            </a:r>
          </a:p>
        </p:txBody>
      </p:sp>
    </p:spTree>
  </p:cSld>
  <p:clrMapOvr>
    <a:masterClrMapping/>
  </p:clrMapOvr>
</p:sld>
</file>

<file path=ppt/slides/slide11.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nvGrpSpPr>
        <p:cNvPr id="1" name=""/>
        <p:cNvGrpSpPr/>
        <p:nvPr/>
      </p:nvGrpSpPr>
      <p:pic>
        <p:nvPicPr>
          <p:cNvPr id="136" name="">
            <a:extLst>
              <a:ext uri="{FF2B5EF4-FFF2-40B4-BE49-F238E27FC236}">
                <ns3:creationId id="{27315B4A-A363-44C6-A433-7F43AA380CB6}"/>
              </a:ext>
            </a:extLst>
          </p:cNvPr>
          <p:cNvPicPr>
            <a:picLocks noChangeAspect="1"/>
          </p:cNvPicPr>
          <p:nvPr/>
        </p:nvPicPr>
        <p:blipFill>
          <a:blip r:embed="rIdMilo1"/>
          <a:stretch/>
        </p:blipFill>
        <p:spPr>
          <a:xfrm>
            <a:off x="485656" y="1695450"/>
            <a:ext cx="3800714" cy="2905125"/>
          </a:xfrm>
          <a:prstGeom prst="rect">
            <a:avLst/>
          </a:prstGeom>
        </p:spPr>
      </p:pic>
      <p:pic>
        <p:nvPicPr>
          <p:cNvPr id="137" name="">
            <a:extLst>
              <a:ext uri="{FF2B5EF4-FFF2-40B4-BE49-F238E27FC236}">
                <ns3:creationId id="{72229368-2DEF-4A55-A817-B721D91F08BC}"/>
              </a:ext>
            </a:extLst>
          </p:cNvPr>
          <p:cNvPicPr>
            <a:picLocks noChangeAspect="1"/>
          </p:cNvPicPr>
          <p:nvPr/>
        </p:nvPicPr>
        <p:blipFill>
          <a:blip r:embed="rIdMilo2"/>
          <a:stretch/>
        </p:blipFill>
        <p:spPr>
          <a:xfrm>
            <a:off x="4772025" y="1900863"/>
            <a:ext cx="4048125" cy="2494299"/>
          </a:xfrm>
          <a:prstGeom prst="rect">
            <a:avLst/>
          </a:prstGeom>
        </p:spPr>
      </p:pic>
      <p:sp>
        <p:nvSpPr>
          <p:cNvPr id="138" name="Teach with a generated board">
            <a:extLst>
              <a:ext uri="{FF2B5EF4-FFF2-40B4-BE49-F238E27FC236}">
                <ns3:creationId id="{88931333-E445-4ABE-86AA-587D05978BF5}"/>
              </a:ext>
            </a:extLst>
          </p:cNvPr>
          <p:cNvSpPr>
            <a:spLocks noGrp="1"/>
          </p:cNvSpPr>
          <p:nvPr/>
        </p:nvSpPr>
        <p:spPr>
          <a:xfrm>
            <a:off x="361950" y="1314450"/>
            <a:ext cx="4048125" cy="27622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Teach with a generated board</a:t>
            </a:r>
          </a:p>
        </p:txBody>
      </p:sp>
      <p:sp>
        <p:nvSpPr>
          <p:cNvPr id="139" name="Review evidence-linked feedback">
            <a:extLst>
              <a:ext uri="{FF2B5EF4-FFF2-40B4-BE49-F238E27FC236}">
                <ns3:creationId id="{6318B626-2566-4CAD-B75D-12999D19074F}"/>
              </a:ext>
            </a:extLst>
          </p:cNvPr>
          <p:cNvSpPr>
            <a:spLocks noGrp="1"/>
          </p:cNvSpPr>
          <p:nvPr/>
        </p:nvSpPr>
        <p:spPr>
          <a:xfrm>
            <a:off x="4772025" y="1314450"/>
            <a:ext cx="4048125" cy="27622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Review evidence-linked feedback</a:t>
            </a:r>
          </a:p>
        </p:txBody>
      </p:sp>
      <p:sp>
        <p:nvSpPr>
          <p:cNvPr id="140" name="Actual prototype captures from the supplied deck, using sample le">
            <a:extLst>
              <a:ext uri="{FF2B5EF4-FFF2-40B4-BE49-F238E27FC236}">
                <ns3:creationId id="{8E9B051D-AC18-46CA-B9EF-AF7FEFA29B2D}"/>
              </a:ext>
            </a:extLst>
          </p:cNvPr>
          <p:cNvSpPr>
            <a:spLocks noGrp="1"/>
          </p:cNvSpPr>
          <p:nvPr/>
        </p:nvSpPr>
        <p:spPr>
          <a:xfrm>
            <a:off x="361950" y="4695825"/>
            <a:ext cx="8429625" cy="219075"/>
          </a:xfrm>
          <a:prstGeom prst="rect">
            <a:avLst/>
          </a:prstGeom>
          <a:noFill/>
          <a:ln w="0">
            <a:noFill/>
          </a:ln>
        </p:spPr>
        <p:txBody>
          <a:bodyPr lIns="0" tIns="0" rIns="0" bIns="0" anchor="t"/>
          <a:lstStyle>
            <a:defPPr>
              <a:defRPr sz="1125" b="0">
                <a:solidFill>
                  <a:srgbClr val="000000"/>
                </a:solidFill>
                <a:latin typeface="Google Sans Flex"/>
                <a:ea typeface="Google Sans Flex"/>
                <a:cs typeface="Google Sans Flex"/>
              </a:defRPr>
            </a:defPPr>
            <a:lvl1pPr>
              <a:defRPr sz="1125" b="0">
                <a:solidFill>
                  <a:srgbClr val="000000"/>
                </a:solidFill>
                <a:latin typeface="Google Sans Flex"/>
                <a:ea typeface="Google Sans Flex"/>
                <a:cs typeface="Google Sans Flex"/>
              </a:defRPr>
            </a:lvl1pPr>
            <a:lvl2pPr>
              <a:defRPr sz="1125" b="0">
                <a:solidFill>
                  <a:srgbClr val="000000"/>
                </a:solidFill>
                <a:latin typeface="Google Sans Flex"/>
                <a:ea typeface="Google Sans Flex"/>
                <a:cs typeface="Google Sans Flex"/>
              </a:defRPr>
            </a:lvl2pPr>
            <a:lvl3pPr>
              <a:defRPr sz="1125" b="0">
                <a:solidFill>
                  <a:srgbClr val="000000"/>
                </a:solidFill>
                <a:latin typeface="Google Sans Flex"/>
                <a:ea typeface="Google Sans Flex"/>
                <a:cs typeface="Google Sans Flex"/>
              </a:defRPr>
            </a:lvl3pPr>
            <a:lvl4pPr>
              <a:defRPr sz="1125" b="0">
                <a:solidFill>
                  <a:srgbClr val="000000"/>
                </a:solidFill>
                <a:latin typeface="Google Sans Flex"/>
                <a:ea typeface="Google Sans Flex"/>
                <a:cs typeface="Google Sans Flex"/>
              </a:defRPr>
            </a:lvl4pPr>
            <a:lvl5pPr>
              <a:defRPr sz="1125" b="0">
                <a:solidFill>
                  <a:srgbClr val="000000"/>
                </a:solidFill>
                <a:latin typeface="Google Sans Flex"/>
                <a:ea typeface="Google Sans Flex"/>
                <a:cs typeface="Google Sans Flex"/>
              </a:defRPr>
            </a:lvl5pPr>
            <a:lvl6pPr>
              <a:defRPr sz="1125" b="0">
                <a:solidFill>
                  <a:srgbClr val="000000"/>
                </a:solidFill>
                <a:latin typeface="Google Sans Flex"/>
                <a:ea typeface="Google Sans Flex"/>
                <a:cs typeface="Google Sans Flex"/>
              </a:defRPr>
            </a:lvl6pPr>
            <a:lvl7pPr>
              <a:defRPr sz="1125" b="0">
                <a:solidFill>
                  <a:srgbClr val="000000"/>
                </a:solidFill>
                <a:latin typeface="Google Sans Flex"/>
                <a:ea typeface="Google Sans Flex"/>
                <a:cs typeface="Google Sans Flex"/>
              </a:defRPr>
            </a:lvl7pPr>
            <a:lvl8pPr>
              <a:defRPr sz="1125" b="0">
                <a:solidFill>
                  <a:srgbClr val="000000"/>
                </a:solidFill>
                <a:latin typeface="Google Sans Flex"/>
                <a:ea typeface="Google Sans Flex"/>
                <a:cs typeface="Google Sans Flex"/>
              </a:defRPr>
            </a:lvl8pPr>
            <a:lvl9pPr>
              <a:defRPr sz="1125" b="0">
                <a:solidFill>
                  <a:srgbClr val="000000"/>
                </a:solidFill>
                <a:latin typeface="Google Sans Flex"/>
                <a:ea typeface="Google Sans Flex"/>
                <a:cs typeface="Google Sans Flex"/>
              </a:defRPr>
            </a:lvl9pPr>
          </a:lstStyle>
          <a:p>
            <a:pPr>
              <a:defRPr sz="1125" b="0">
                <a:solidFill>
                  <a:srgbClr val="000000"/>
                </a:solidFill>
                <a:latin typeface="Google Sans Flex"/>
                <a:ea typeface="Google Sans Flex"/>
                <a:cs typeface="Google Sans Flex"/>
              </a:defRPr>
            </a:pPr>
            <a:r>
              <a:rPr sz="1125" b="0">
                <a:solidFill>
                  <a:srgbClr val="000000"/>
                </a:solidFill>
                <a:latin typeface="Google Sans Flex"/>
                <a:ea typeface="Google Sans Flex"/>
                <a:cs typeface="Google Sans Flex"/>
              </a:rPr>
              <a:t>Actual prototype captures from the supplied deck, using sample learner answers.</a:t>
            </a:r>
          </a:p>
        </p:txBody>
      </p:sp>
    </p:spTree>
  </p:cSld>
  <p:clrMapOvr>
    <a:masterClrMapping/>
  </p:clrMapOvr>
</p:sld>
</file>

<file path=ppt/slides/slide12.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nvGrpSpPr>
        <p:cNvPr id="1" name=""/>
        <p:cNvGrpSpPr/>
        <p:nvPr/>
      </p:nvGrpSpPr>
      <p:sp>
        <p:nvSpPr>
          <p:cNvPr id="144" name="gemini-3.5-flash-lite. Direct Gemini SDK calls, n=9, concurrency ">
            <a:extLst>
              <a:ext uri="{FF2B5EF4-FFF2-40B4-BE49-F238E27FC236}">
                <ns3:creationId id="{40CB1264-B959-4728-ADB7-58553FFA38B9}"/>
              </a:ext>
            </a:extLst>
          </p:cNvPr>
          <p:cNvSpPr>
            <a:spLocks noGrp="1"/>
          </p:cNvSpPr>
          <p:nvPr/>
        </p:nvSpPr>
        <p:spPr>
          <a:xfrm>
            <a:off x="361950" y="1257300"/>
            <a:ext cx="8429625" cy="266700"/>
          </a:xfrm>
          <a:prstGeom prst="rect">
            <a:avLst/>
          </a:prstGeom>
          <a:noFill/>
          <a:ln w="0">
            <a:noFill/>
          </a:ln>
        </p:spPr>
        <p:txBody>
          <a:bodyPr lIns="0" tIns="0" rIns="0" bIns="0" anchor="t"/>
          <a:lstStyle>
            <a:defPPr>
              <a:defRPr sz="1275" b="1">
                <a:solidFill>
                  <a:srgbClr val="000000"/>
                </a:solidFill>
                <a:latin typeface="Google Sans Flex"/>
                <a:ea typeface="Google Sans Flex"/>
                <a:cs typeface="Google Sans Flex"/>
              </a:defRPr>
            </a:defPPr>
            <a:lvl1pPr>
              <a:defRPr sz="1275" b="1">
                <a:solidFill>
                  <a:srgbClr val="000000"/>
                </a:solidFill>
                <a:latin typeface="Google Sans Flex"/>
                <a:ea typeface="Google Sans Flex"/>
                <a:cs typeface="Google Sans Flex"/>
              </a:defRPr>
            </a:lvl1pPr>
            <a:lvl2pPr>
              <a:defRPr sz="1275" b="1">
                <a:solidFill>
                  <a:srgbClr val="000000"/>
                </a:solidFill>
                <a:latin typeface="Google Sans Flex"/>
                <a:ea typeface="Google Sans Flex"/>
                <a:cs typeface="Google Sans Flex"/>
              </a:defRPr>
            </a:lvl2pPr>
            <a:lvl3pPr>
              <a:defRPr sz="1275" b="1">
                <a:solidFill>
                  <a:srgbClr val="000000"/>
                </a:solidFill>
                <a:latin typeface="Google Sans Flex"/>
                <a:ea typeface="Google Sans Flex"/>
                <a:cs typeface="Google Sans Flex"/>
              </a:defRPr>
            </a:lvl3pPr>
            <a:lvl4pPr>
              <a:defRPr sz="1275" b="1">
                <a:solidFill>
                  <a:srgbClr val="000000"/>
                </a:solidFill>
                <a:latin typeface="Google Sans Flex"/>
                <a:ea typeface="Google Sans Flex"/>
                <a:cs typeface="Google Sans Flex"/>
              </a:defRPr>
            </a:lvl4pPr>
            <a:lvl5pPr>
              <a:defRPr sz="1275" b="1">
                <a:solidFill>
                  <a:srgbClr val="000000"/>
                </a:solidFill>
                <a:latin typeface="Google Sans Flex"/>
                <a:ea typeface="Google Sans Flex"/>
                <a:cs typeface="Google Sans Flex"/>
              </a:defRPr>
            </a:lvl5pPr>
            <a:lvl6pPr>
              <a:defRPr sz="1275" b="1">
                <a:solidFill>
                  <a:srgbClr val="000000"/>
                </a:solidFill>
                <a:latin typeface="Google Sans Flex"/>
                <a:ea typeface="Google Sans Flex"/>
                <a:cs typeface="Google Sans Flex"/>
              </a:defRPr>
            </a:lvl6pPr>
            <a:lvl7pPr>
              <a:defRPr sz="1275" b="1">
                <a:solidFill>
                  <a:srgbClr val="000000"/>
                </a:solidFill>
                <a:latin typeface="Google Sans Flex"/>
                <a:ea typeface="Google Sans Flex"/>
                <a:cs typeface="Google Sans Flex"/>
              </a:defRPr>
            </a:lvl7pPr>
            <a:lvl8pPr>
              <a:defRPr sz="1275" b="1">
                <a:solidFill>
                  <a:srgbClr val="000000"/>
                </a:solidFill>
                <a:latin typeface="Google Sans Flex"/>
                <a:ea typeface="Google Sans Flex"/>
                <a:cs typeface="Google Sans Flex"/>
              </a:defRPr>
            </a:lvl8pPr>
            <a:lvl9pPr>
              <a:defRPr sz="1275" b="1">
                <a:solidFill>
                  <a:srgbClr val="000000"/>
                </a:solidFill>
                <a:latin typeface="Google Sans Flex"/>
                <a:ea typeface="Google Sans Flex"/>
                <a:cs typeface="Google Sans Flex"/>
              </a:defRPr>
            </a:lvl9pPr>
          </a:lstStyle>
          <a:p>
            <a:pPr>
              <a:defRPr sz="1275" b="1">
                <a:solidFill>
                  <a:srgbClr val="000000"/>
                </a:solidFill>
                <a:latin typeface="Google Sans Flex"/>
                <a:ea typeface="Google Sans Flex"/>
                <a:cs typeface="Google Sans Flex"/>
              </a:defRPr>
            </a:pPr>
            <a:r>
              <a:rPr sz="1275" b="1">
                <a:solidFill>
                  <a:srgbClr val="000000"/>
                </a:solidFill>
                <a:latin typeface="Google Sans Flex"/>
                <a:ea typeface="Google Sans Flex"/>
                <a:cs typeface="Google Sans Flex"/>
              </a:rPr>
              <a:t>gemini-3.5-flash-lite. Direct Gemini SDK calls, n=9, concurrency 1.</a:t>
            </a:r>
          </a:p>
        </p:txBody>
      </p:sp>
      <p:graphicFrame>
        <p:nvGraphicFramePr>
          <p:cNvPr id="145" name="">
            <a:extLst>
              <a:ext uri="{FF2B5EF4-FFF2-40B4-BE49-F238E27FC236}">
                <ns3:creationId id="{DA210B3F-9B79-4766-94B5-7A9056BD89B5}"/>
              </a:ext>
            </a:extLst>
          </p:cNvPr>
          <p:cNvGraphicFramePr/>
          <p:nvPr/>
        </p:nvGraphicFramePr>
        <p:xfrm>
          <a:off x="361950" y="1628775"/>
          <a:ext cx="8429625" cy="1381125"/>
        </p:xfrm>
        <a:graphic>
          <a:graphicData uri="http://schemas.openxmlformats.org/drawingml/2006/table">
            <a:tbl>
              <a:tblPr/>
              <a:tblGrid>
                <a:gridCol w="2647950"/>
                <a:gridCol w="876300"/>
                <a:gridCol w="2247900"/>
                <a:gridCol w="2657475"/>
              </a:tblGrid>
              <a:tr h="345281">
                <a:tc>
                  <a:txBody>
                    <a:bodyPr/>
                    <a:lstStyle/>
                    <a:p>
                      <a:r>
                        <a:rPr sz="1200" b="1">
                          <a:solidFill>
                            <a:srgbClr val="000000"/>
                          </a:solidFill>
                          <a:latin typeface="Google Sans Flex"/>
                          <a:ea typeface="Google Sans Flex"/>
                          <a:cs typeface="Google Sans Flex"/>
                        </a:rPr>
                        <a:t>Workload</a:t>
                      </a:r>
                    </a:p>
                  </a:txBody>
                  <a:tcPr marL="91440" marR="91440" marT="45720" marB="45720">
                    <a:lnL w="4763">
                      <a:solidFill>
                        <a:srgbClr val="DDDDDD"/>
                      </a:solidFill>
                      <a:prstDash val="solid"/>
                    </a:lnL>
                    <a:lnR w="4763">
                      <a:solidFill>
                        <a:srgbClr val="DDDDDD"/>
                      </a:solidFill>
                      <a:prstDash val="solid"/>
                    </a:lnR>
                    <a:lnT w="4763">
                      <a:solidFill>
                        <a:srgbClr val="DDDDDD"/>
                      </a:solidFill>
                      <a:prstDash val="solid"/>
                    </a:lnT>
                    <a:lnB w="4763">
                      <a:solidFill>
                        <a:srgbClr val="DDDDDD"/>
                      </a:solidFill>
                      <a:prstDash val="solid"/>
                    </a:lnB>
                    <a:solidFill>
                      <a:srgbClr val="EDEDED"/>
                    </a:solidFill>
                  </a:tcPr>
                </a:tc>
                <a:tc>
                  <a:txBody>
                    <a:bodyPr/>
                    <a:lstStyle/>
                    <a:p>
                      <a:r>
                        <a:rPr sz="1200" b="1">
                          <a:solidFill>
                            <a:srgbClr val="000000"/>
                          </a:solidFill>
                          <a:latin typeface="Google Sans Flex"/>
                          <a:ea typeface="Google Sans Flex"/>
                          <a:cs typeface="Google Sans Flex"/>
                        </a:rPr>
                        <a:t>API OK</a:t>
                      </a:r>
                    </a:p>
                  </a:txBody>
                  <a:tcPr marL="91440" marR="91440" marT="45720" marB="45720">
                    <a:lnR w="4763">
                      <a:solidFill>
                        <a:srgbClr val="DDDDDD"/>
                      </a:solidFill>
                      <a:prstDash val="solid"/>
                    </a:lnR>
                    <a:lnT w="4763">
                      <a:solidFill>
                        <a:srgbClr val="DDDDDD"/>
                      </a:solidFill>
                      <a:prstDash val="solid"/>
                    </a:lnT>
                    <a:lnB w="4763">
                      <a:solidFill>
                        <a:srgbClr val="DDDDDD"/>
                      </a:solidFill>
                      <a:prstDash val="solid"/>
                    </a:lnB>
                    <a:solidFill>
                      <a:srgbClr val="EDEDED"/>
                    </a:solidFill>
                  </a:tcPr>
                </a:tc>
                <a:tc>
                  <a:txBody>
                    <a:bodyPr/>
                    <a:lstStyle/>
                    <a:p>
                      <a:r>
                        <a:rPr sz="1200" b="1">
                          <a:solidFill>
                            <a:srgbClr val="000000"/>
                          </a:solidFill>
                          <a:latin typeface="Google Sans Flex"/>
                          <a:ea typeface="Google Sans Flex"/>
                          <a:cs typeface="Google Sans Flex"/>
                        </a:rPr>
                        <a:t>p50 / max latency</a:t>
                      </a:r>
                    </a:p>
                  </a:txBody>
                  <a:tcPr marL="91440" marR="91440" marT="45720" marB="45720">
                    <a:lnR w="4763">
                      <a:solidFill>
                        <a:srgbClr val="DDDDDD"/>
                      </a:solidFill>
                      <a:prstDash val="solid"/>
                    </a:lnR>
                    <a:lnT w="4763">
                      <a:solidFill>
                        <a:srgbClr val="DDDDDD"/>
                      </a:solidFill>
                      <a:prstDash val="solid"/>
                    </a:lnT>
                    <a:lnB w="4763">
                      <a:solidFill>
                        <a:srgbClr val="DDDDDD"/>
                      </a:solidFill>
                      <a:prstDash val="solid"/>
                    </a:lnB>
                    <a:solidFill>
                      <a:srgbClr val="EDEDED"/>
                    </a:solidFill>
                  </a:tcPr>
                </a:tc>
                <a:tc>
                  <a:txBody>
                    <a:bodyPr/>
                    <a:lstStyle/>
                    <a:p>
                      <a:r>
                        <a:rPr sz="1200" b="1">
                          <a:solidFill>
                            <a:srgbClr val="000000"/>
                          </a:solidFill>
                          <a:latin typeface="Google Sans Flex"/>
                          <a:ea typeface="Google Sans Flex"/>
                          <a:cs typeface="Google Sans Flex"/>
                        </a:rPr>
                        <a:t>Input / output tokens (total)</a:t>
                      </a:r>
                    </a:p>
                  </a:txBody>
                  <a:tcPr marL="91440" marR="91440" marT="45720" marB="45720">
                    <a:lnR w="4763">
                      <a:solidFill>
                        <a:srgbClr val="DDDDDD"/>
                      </a:solidFill>
                      <a:prstDash val="solid"/>
                    </a:lnR>
                    <a:lnT w="4763">
                      <a:solidFill>
                        <a:srgbClr val="DDDDDD"/>
                      </a:solidFill>
                      <a:prstDash val="solid"/>
                    </a:lnT>
                    <a:lnB w="4763">
                      <a:solidFill>
                        <a:srgbClr val="DDDDDD"/>
                      </a:solidFill>
                      <a:prstDash val="solid"/>
                    </a:lnB>
                    <a:solidFill>
                      <a:srgbClr val="EDEDED"/>
                    </a:solidFill>
                  </a:tcPr>
                </a:tc>
              </a:tr>
              <a:tr h="345281">
                <a:tc>
                  <a:txBody>
                    <a:bodyPr/>
                    <a:lstStyle/>
                    <a:p>
                      <a:r>
                        <a:rPr sz="1200" b="0">
                          <a:solidFill>
                            <a:srgbClr val="000000"/>
                          </a:solidFill>
                          <a:latin typeface="Google Sans Flex"/>
                          <a:ea typeface="Google Sans Flex"/>
                          <a:cs typeface="Google Sans Flex"/>
                        </a:rPr>
                        <a:t>lesson preparation</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3/3</a:t>
                      </a:r>
                    </a:p>
                  </a:txBody>
                  <a:tcPr marL="91440" marR="91440" marT="45720" marB="45720">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5.20 s / 5.80 s</a:t>
                      </a:r>
                    </a:p>
                  </a:txBody>
                  <a:tcPr marL="91440" marR="91440" marT="45720" marB="45720">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5,793 / 5,008</a:t>
                      </a:r>
                    </a:p>
                  </a:txBody>
                  <a:tcPr marL="91440" marR="91440" marT="45720" marB="45720">
                    <a:lnR w="4763">
                      <a:solidFill>
                        <a:srgbClr val="DDDDDD"/>
                      </a:solidFill>
                      <a:prstDash val="solid"/>
                    </a:lnR>
                    <a:lnB w="4763">
                      <a:solidFill>
                        <a:srgbClr val="DDDDDD"/>
                      </a:solidFill>
                      <a:prstDash val="solid"/>
                    </a:lnB>
                    <a:solidFill>
                      <a:srgbClr val="FFFFFF"/>
                    </a:solidFill>
                  </a:tcPr>
                </a:tc>
              </a:tr>
              <a:tr h="345281">
                <a:tc>
                  <a:txBody>
                    <a:bodyPr/>
                    <a:lstStyle/>
                    <a:p>
                      <a:r>
                        <a:rPr sz="1200" b="0">
                          <a:solidFill>
                            <a:srgbClr val="000000"/>
                          </a:solidFill>
                          <a:latin typeface="Google Sans Flex"/>
                          <a:ea typeface="Google Sans Flex"/>
                          <a:cs typeface="Google Sans Flex"/>
                        </a:rPr>
                        <a:t>teaching reply</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3/3</a:t>
                      </a:r>
                    </a:p>
                  </a:txBody>
                  <a:tcPr marL="91440" marR="91440" marT="45720" marB="45720">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2.50 s / 2.70 s</a:t>
                      </a:r>
                    </a:p>
                  </a:txBody>
                  <a:tcPr marL="91440" marR="91440" marT="45720" marB="45720">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3,513 / 1,624</a:t>
                      </a:r>
                    </a:p>
                  </a:txBody>
                  <a:tcPr marL="91440" marR="91440" marT="45720" marB="45720">
                    <a:lnR w="4763">
                      <a:solidFill>
                        <a:srgbClr val="DDDDDD"/>
                      </a:solidFill>
                      <a:prstDash val="solid"/>
                    </a:lnR>
                    <a:lnB w="4763">
                      <a:solidFill>
                        <a:srgbClr val="DDDDDD"/>
                      </a:solidFill>
                      <a:prstDash val="solid"/>
                    </a:lnB>
                    <a:solidFill>
                      <a:srgbClr val="FFFFFF"/>
                    </a:solidFill>
                  </a:tcPr>
                </a:tc>
              </a:tr>
              <a:tr h="345281">
                <a:tc>
                  <a:txBody>
                    <a:bodyPr/>
                    <a:lstStyle/>
                    <a:p>
                      <a:r>
                        <a:rPr sz="1200" b="0">
                          <a:solidFill>
                            <a:srgbClr val="000000"/>
                          </a:solidFill>
                          <a:latin typeface="Google Sans Flex"/>
                          <a:ea typeface="Google Sans Flex"/>
                          <a:cs typeface="Google Sans Flex"/>
                        </a:rPr>
                        <a:t>report evaluation</a:t>
                      </a:r>
                    </a:p>
                  </a:txBody>
                  <a:tcPr marL="91440" marR="91440" marT="45720" marB="45720">
                    <a:lnL w="4763">
                      <a:solidFill>
                        <a:srgbClr val="DDDDDD"/>
                      </a:solidFill>
                      <a:prstDash val="solid"/>
                    </a:lnL>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3/3</a:t>
                      </a:r>
                    </a:p>
                  </a:txBody>
                  <a:tcPr marL="91440" marR="91440" marT="45720" marB="45720">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4.07 s / 4.21 s</a:t>
                      </a:r>
                    </a:p>
                  </a:txBody>
                  <a:tcPr marL="91440" marR="91440" marT="45720" marB="45720">
                    <a:lnR w="4763">
                      <a:solidFill>
                        <a:srgbClr val="DDDDDD"/>
                      </a:solidFill>
                      <a:prstDash val="solid"/>
                    </a:lnR>
                    <a:lnB w="4763">
                      <a:solidFill>
                        <a:srgbClr val="DDDDDD"/>
                      </a:solidFill>
                      <a:prstDash val="solid"/>
                    </a:lnB>
                    <a:solidFill>
                      <a:srgbClr val="FFFFFF"/>
                    </a:solidFill>
                  </a:tcPr>
                </a:tc>
                <a:tc>
                  <a:txBody>
                    <a:bodyPr/>
                    <a:lstStyle/>
                    <a:p>
                      <a:r>
                        <a:rPr sz="1200" b="0">
                          <a:solidFill>
                            <a:srgbClr val="000000"/>
                          </a:solidFill>
                          <a:latin typeface="Google Sans Flex"/>
                          <a:ea typeface="Google Sans Flex"/>
                          <a:cs typeface="Google Sans Flex"/>
                        </a:rPr>
                        <a:t>3,849 / 3,918</a:t>
                      </a:r>
                    </a:p>
                  </a:txBody>
                  <a:tcPr marL="91440" marR="91440" marT="45720" marB="45720">
                    <a:lnR w="4763">
                      <a:solidFill>
                        <a:srgbClr val="DDDDDD"/>
                      </a:solidFill>
                      <a:prstDash val="solid"/>
                    </a:lnR>
                    <a:lnB w="4763">
                      <a:solidFill>
                        <a:srgbClr val="DDDDDD"/>
                      </a:solidFill>
                      <a:prstDash val="solid"/>
                    </a:lnB>
                    <a:solidFill>
                      <a:srgbClr val="FFFFFF"/>
                    </a:solidFill>
                  </a:tcPr>
                </a:tc>
              </a:tr>
            </a:tbl>
          </a:graphicData>
        </a:graphic>
      </p:graphicFrame>
      <p:sp>
        <p:nvSpPr>
          <p:cNvPr id="146" name="Structured JSON: 9/9. Fixture checks: 9/9. Paid equivalent: US$0.">
            <a:extLst>
              <a:ext uri="{FF2B5EF4-FFF2-40B4-BE49-F238E27FC236}">
                <ns3:creationId id="{4439B713-8204-4F08-9F5C-5C9806B044EC}"/>
              </a:ext>
            </a:extLst>
          </p:cNvPr>
          <p:cNvSpPr>
            <a:spLocks noGrp="1"/>
          </p:cNvSpPr>
          <p:nvPr/>
        </p:nvSpPr>
        <p:spPr>
          <a:xfrm>
            <a:off x="361950" y="3162300"/>
            <a:ext cx="8429625" cy="276225"/>
          </a:xfrm>
          <a:prstGeom prst="rect">
            <a:avLst/>
          </a:prstGeom>
          <a:noFill/>
          <a:ln w="0">
            <a:noFill/>
          </a:ln>
        </p:spPr>
        <p:txBody>
          <a:bodyPr lIns="0" tIns="0" rIns="0" bIns="0" anchor="t"/>
          <a:lstStyle>
            <a:defPPr>
              <a:defRPr sz="1200" b="1">
                <a:solidFill>
                  <a:srgbClr val="000000"/>
                </a:solidFill>
                <a:latin typeface="Google Sans Flex"/>
                <a:ea typeface="Google Sans Flex"/>
                <a:cs typeface="Google Sans Flex"/>
              </a:defRPr>
            </a:defPPr>
            <a:lvl1pPr>
              <a:defRPr sz="1200" b="1">
                <a:solidFill>
                  <a:srgbClr val="000000"/>
                </a:solidFill>
                <a:latin typeface="Google Sans Flex"/>
                <a:ea typeface="Google Sans Flex"/>
                <a:cs typeface="Google Sans Flex"/>
              </a:defRPr>
            </a:lvl1pPr>
            <a:lvl2pPr>
              <a:defRPr sz="1200" b="1">
                <a:solidFill>
                  <a:srgbClr val="000000"/>
                </a:solidFill>
                <a:latin typeface="Google Sans Flex"/>
                <a:ea typeface="Google Sans Flex"/>
                <a:cs typeface="Google Sans Flex"/>
              </a:defRPr>
            </a:lvl2pPr>
            <a:lvl3pPr>
              <a:defRPr sz="1200" b="1">
                <a:solidFill>
                  <a:srgbClr val="000000"/>
                </a:solidFill>
                <a:latin typeface="Google Sans Flex"/>
                <a:ea typeface="Google Sans Flex"/>
                <a:cs typeface="Google Sans Flex"/>
              </a:defRPr>
            </a:lvl3pPr>
            <a:lvl4pPr>
              <a:defRPr sz="1200" b="1">
                <a:solidFill>
                  <a:srgbClr val="000000"/>
                </a:solidFill>
                <a:latin typeface="Google Sans Flex"/>
                <a:ea typeface="Google Sans Flex"/>
                <a:cs typeface="Google Sans Flex"/>
              </a:defRPr>
            </a:lvl4pPr>
            <a:lvl5pPr>
              <a:defRPr sz="1200" b="1">
                <a:solidFill>
                  <a:srgbClr val="000000"/>
                </a:solidFill>
                <a:latin typeface="Google Sans Flex"/>
                <a:ea typeface="Google Sans Flex"/>
                <a:cs typeface="Google Sans Flex"/>
              </a:defRPr>
            </a:lvl5pPr>
            <a:lvl6pPr>
              <a:defRPr sz="1200" b="1">
                <a:solidFill>
                  <a:srgbClr val="000000"/>
                </a:solidFill>
                <a:latin typeface="Google Sans Flex"/>
                <a:ea typeface="Google Sans Flex"/>
                <a:cs typeface="Google Sans Flex"/>
              </a:defRPr>
            </a:lvl6pPr>
            <a:lvl7pPr>
              <a:defRPr sz="1200" b="1">
                <a:solidFill>
                  <a:srgbClr val="000000"/>
                </a:solidFill>
                <a:latin typeface="Google Sans Flex"/>
                <a:ea typeface="Google Sans Flex"/>
                <a:cs typeface="Google Sans Flex"/>
              </a:defRPr>
            </a:lvl7pPr>
            <a:lvl8pPr>
              <a:defRPr sz="1200" b="1">
                <a:solidFill>
                  <a:srgbClr val="000000"/>
                </a:solidFill>
                <a:latin typeface="Google Sans Flex"/>
                <a:ea typeface="Google Sans Flex"/>
                <a:cs typeface="Google Sans Flex"/>
              </a:defRPr>
            </a:lvl8pPr>
            <a:lvl9pPr>
              <a:defRPr sz="1200" b="1">
                <a:solidFill>
                  <a:srgbClr val="000000"/>
                </a:solidFill>
                <a:latin typeface="Google Sans Flex"/>
                <a:ea typeface="Google Sans Flex"/>
                <a:cs typeface="Google Sans Flex"/>
              </a:defRPr>
            </a:lvl9pPr>
          </a:lstStyle>
          <a:p>
            <a:pPr>
              <a:defRPr sz="1200" b="1">
                <a:solidFill>
                  <a:srgbClr val="000000"/>
                </a:solidFill>
                <a:latin typeface="Google Sans Flex"/>
                <a:ea typeface="Google Sans Flex"/>
                <a:cs typeface="Google Sans Flex"/>
              </a:defRPr>
            </a:pPr>
            <a:r>
              <a:rPr sz="1200" b="1">
                <a:solidFill>
                  <a:srgbClr val="000000"/>
                </a:solidFill>
                <a:latin typeface="Google Sans Flex"/>
                <a:ea typeface="Google Sans Flex"/>
                <a:cs typeface="Google Sans Flex"/>
              </a:rPr>
              <a:t>Structured JSON: 9/9. Fixture checks: 9/9. Paid equivalent: US$0.02991 total.</a:t>
            </a:r>
          </a:p>
        </p:txBody>
      </p:sp>
      <p:sp>
        <p:nvSpPr>
          <p:cNvPr id="147" name="Paced throughput: 2.76 successful calls/min with 20 s gaps. No ca">
            <a:extLst>
              <a:ext uri="{FF2B5EF4-FFF2-40B4-BE49-F238E27FC236}">
                <ns3:creationId id="{D21BDC55-60A4-426C-B1A9-7740E1AE135C}"/>
              </a:ext>
            </a:extLst>
          </p:cNvPr>
          <p:cNvSpPr>
            <a:spLocks noGrp="1"/>
          </p:cNvSpPr>
          <p:nvPr/>
        </p:nvSpPr>
        <p:spPr>
          <a:xfrm>
            <a:off x="361950" y="3514725"/>
            <a:ext cx="8429625" cy="266700"/>
          </a:xfrm>
          <a:prstGeom prst="rect">
            <a:avLst/>
          </a:prstGeom>
          <a:noFill/>
          <a:ln w="0">
            <a:noFill/>
          </a:ln>
        </p:spPr>
        <p:txBody>
          <a:bodyPr lIns="0" tIns="0" rIns="0" bIns="0" anchor="t"/>
          <a:lstStyle>
            <a:defPPr>
              <a:defRPr sz="1200" b="0">
                <a:solidFill>
                  <a:srgbClr val="000000"/>
                </a:solidFill>
                <a:latin typeface="Google Sans Flex"/>
                <a:ea typeface="Google Sans Flex"/>
                <a:cs typeface="Google Sans Flex"/>
              </a:defRPr>
            </a:defPPr>
            <a:lvl1pPr>
              <a:defRPr sz="1200" b="0">
                <a:solidFill>
                  <a:srgbClr val="000000"/>
                </a:solidFill>
                <a:latin typeface="Google Sans Flex"/>
                <a:ea typeface="Google Sans Flex"/>
                <a:cs typeface="Google Sans Flex"/>
              </a:defRPr>
            </a:lvl1pPr>
            <a:lvl2pPr>
              <a:defRPr sz="1200" b="0">
                <a:solidFill>
                  <a:srgbClr val="000000"/>
                </a:solidFill>
                <a:latin typeface="Google Sans Flex"/>
                <a:ea typeface="Google Sans Flex"/>
                <a:cs typeface="Google Sans Flex"/>
              </a:defRPr>
            </a:lvl2pPr>
            <a:lvl3pPr>
              <a:defRPr sz="1200" b="0">
                <a:solidFill>
                  <a:srgbClr val="000000"/>
                </a:solidFill>
                <a:latin typeface="Google Sans Flex"/>
                <a:ea typeface="Google Sans Flex"/>
                <a:cs typeface="Google Sans Flex"/>
              </a:defRPr>
            </a:lvl3pPr>
            <a:lvl4pPr>
              <a:defRPr sz="1200" b="0">
                <a:solidFill>
                  <a:srgbClr val="000000"/>
                </a:solidFill>
                <a:latin typeface="Google Sans Flex"/>
                <a:ea typeface="Google Sans Flex"/>
                <a:cs typeface="Google Sans Flex"/>
              </a:defRPr>
            </a:lvl4pPr>
            <a:lvl5pPr>
              <a:defRPr sz="1200" b="0">
                <a:solidFill>
                  <a:srgbClr val="000000"/>
                </a:solidFill>
                <a:latin typeface="Google Sans Flex"/>
                <a:ea typeface="Google Sans Flex"/>
                <a:cs typeface="Google Sans Flex"/>
              </a:defRPr>
            </a:lvl5pPr>
            <a:lvl6pPr>
              <a:defRPr sz="1200" b="0">
                <a:solidFill>
                  <a:srgbClr val="000000"/>
                </a:solidFill>
                <a:latin typeface="Google Sans Flex"/>
                <a:ea typeface="Google Sans Flex"/>
                <a:cs typeface="Google Sans Flex"/>
              </a:defRPr>
            </a:lvl6pPr>
            <a:lvl7pPr>
              <a:defRPr sz="1200" b="0">
                <a:solidFill>
                  <a:srgbClr val="000000"/>
                </a:solidFill>
                <a:latin typeface="Google Sans Flex"/>
                <a:ea typeface="Google Sans Flex"/>
                <a:cs typeface="Google Sans Flex"/>
              </a:defRPr>
            </a:lvl7pPr>
            <a:lvl8pPr>
              <a:defRPr sz="1200" b="0">
                <a:solidFill>
                  <a:srgbClr val="000000"/>
                </a:solidFill>
                <a:latin typeface="Google Sans Flex"/>
                <a:ea typeface="Google Sans Flex"/>
                <a:cs typeface="Google Sans Flex"/>
              </a:defRPr>
            </a:lvl8pPr>
            <a:lvl9pPr>
              <a:defRPr sz="1200" b="0">
                <a:solidFill>
                  <a:srgbClr val="000000"/>
                </a:solidFill>
                <a:latin typeface="Google Sans Flex"/>
                <a:ea typeface="Google Sans Flex"/>
                <a:cs typeface="Google Sans Flex"/>
              </a:defRPr>
            </a:lvl9pPr>
          </a:lstStyle>
          <a:p>
            <a:pPr>
              <a:defRPr sz="1200" b="0">
                <a:solidFill>
                  <a:srgbClr val="000000"/>
                </a:solidFill>
                <a:latin typeface="Google Sans Flex"/>
                <a:ea typeface="Google Sans Flex"/>
                <a:cs typeface="Google Sans Flex"/>
              </a:defRPr>
            </a:pPr>
            <a:r>
              <a:rPr sz="1200" b="0">
                <a:solidFill>
                  <a:srgbClr val="000000"/>
                </a:solidFill>
                <a:latin typeface="Google Sans Flex"/>
                <a:ea typeface="Google Sans Flex"/>
                <a:cs typeface="Google Sans Flex"/>
              </a:rPr>
              <a:t>Paced throughput: 2.76 successful calls/min with 20 s gaps. No capacity claim.</a:t>
            </a:r>
          </a:p>
        </p:txBody>
      </p:sp>
      <p:sp>
        <p:nvSpPr>
          <p:cNvPr id="148" name="Constraints: active RPM/TPM/RPD and account tier unverified. No q">
            <a:extLst>
              <a:ext uri="{FF2B5EF4-FFF2-40B4-BE49-F238E27FC236}">
                <ns3:creationId id="{60436F11-3853-4B05-890F-D0C769F0982C}"/>
              </a:ext>
            </a:extLst>
          </p:cNvPr>
          <p:cNvSpPr>
            <a:spLocks noGrp="1"/>
          </p:cNvSpPr>
          <p:nvPr/>
        </p:nvSpPr>
        <p:spPr>
          <a:xfrm>
            <a:off x="361950" y="3924300"/>
            <a:ext cx="8429625" cy="714375"/>
          </a:xfrm>
          <a:prstGeom prst="rect">
            <a:avLst/>
          </a:prstGeom>
          <a:noFill/>
          <a:ln w="0">
            <a:noFill/>
          </a:ln>
        </p:spPr>
        <p:txBody>
          <a:bodyPr lIns="0" tIns="0" rIns="0" bIns="0" anchor="t"/>
          <a:lstStyle>
            <a:defPPr>
              <a:defRPr sz="1200" b="0">
                <a:solidFill>
                  <a:srgbClr val="000000"/>
                </a:solidFill>
                <a:latin typeface="Google Sans Flex"/>
                <a:ea typeface="Google Sans Flex"/>
                <a:cs typeface="Google Sans Flex"/>
              </a:defRPr>
            </a:defPPr>
            <a:lvl1pPr>
              <a:defRPr sz="1200" b="0">
                <a:solidFill>
                  <a:srgbClr val="000000"/>
                </a:solidFill>
                <a:latin typeface="Google Sans Flex"/>
                <a:ea typeface="Google Sans Flex"/>
                <a:cs typeface="Google Sans Flex"/>
              </a:defRPr>
            </a:lvl1pPr>
            <a:lvl2pPr>
              <a:defRPr sz="1200" b="0">
                <a:solidFill>
                  <a:srgbClr val="000000"/>
                </a:solidFill>
                <a:latin typeface="Google Sans Flex"/>
                <a:ea typeface="Google Sans Flex"/>
                <a:cs typeface="Google Sans Flex"/>
              </a:defRPr>
            </a:lvl2pPr>
            <a:lvl3pPr>
              <a:defRPr sz="1200" b="0">
                <a:solidFill>
                  <a:srgbClr val="000000"/>
                </a:solidFill>
                <a:latin typeface="Google Sans Flex"/>
                <a:ea typeface="Google Sans Flex"/>
                <a:cs typeface="Google Sans Flex"/>
              </a:defRPr>
            </a:lvl3pPr>
            <a:lvl4pPr>
              <a:defRPr sz="1200" b="0">
                <a:solidFill>
                  <a:srgbClr val="000000"/>
                </a:solidFill>
                <a:latin typeface="Google Sans Flex"/>
                <a:ea typeface="Google Sans Flex"/>
                <a:cs typeface="Google Sans Flex"/>
              </a:defRPr>
            </a:lvl4pPr>
            <a:lvl5pPr>
              <a:defRPr sz="1200" b="0">
                <a:solidFill>
                  <a:srgbClr val="000000"/>
                </a:solidFill>
                <a:latin typeface="Google Sans Flex"/>
                <a:ea typeface="Google Sans Flex"/>
                <a:cs typeface="Google Sans Flex"/>
              </a:defRPr>
            </a:lvl5pPr>
            <a:lvl6pPr>
              <a:defRPr sz="1200" b="0">
                <a:solidFill>
                  <a:srgbClr val="000000"/>
                </a:solidFill>
                <a:latin typeface="Google Sans Flex"/>
                <a:ea typeface="Google Sans Flex"/>
                <a:cs typeface="Google Sans Flex"/>
              </a:defRPr>
            </a:lvl6pPr>
            <a:lvl7pPr>
              <a:defRPr sz="1200" b="0">
                <a:solidFill>
                  <a:srgbClr val="000000"/>
                </a:solidFill>
                <a:latin typeface="Google Sans Flex"/>
                <a:ea typeface="Google Sans Flex"/>
                <a:cs typeface="Google Sans Flex"/>
              </a:defRPr>
            </a:lvl7pPr>
            <a:lvl8pPr>
              <a:defRPr sz="1200" b="0">
                <a:solidFill>
                  <a:srgbClr val="000000"/>
                </a:solidFill>
                <a:latin typeface="Google Sans Flex"/>
                <a:ea typeface="Google Sans Flex"/>
                <a:cs typeface="Google Sans Flex"/>
              </a:defRPr>
            </a:lvl8pPr>
            <a:lvl9pPr>
              <a:defRPr sz="1200" b="0">
                <a:solidFill>
                  <a:srgbClr val="000000"/>
                </a:solidFill>
                <a:latin typeface="Google Sans Flex"/>
                <a:ea typeface="Google Sans Flex"/>
                <a:cs typeface="Google Sans Flex"/>
              </a:defRPr>
            </a:lvl9pPr>
          </a:lstStyle>
          <a:p>
            <a:pPr>
              <a:defRPr sz="1200" b="0">
                <a:solidFill>
                  <a:srgbClr val="000000"/>
                </a:solidFill>
                <a:latin typeface="Google Sans Flex"/>
                <a:ea typeface="Google Sans Flex"/>
                <a:cs typeface="Google Sans Flex"/>
              </a:defRPr>
            </a:pPr>
            <a:r>
              <a:rPr sz="1200" b="0">
                <a:solidFill>
                  <a:srgbClr val="000000"/>
                </a:solidFill>
                <a:latin typeface="Google Sans Flex"/>
                <a:ea typeface="Google Sans Flex"/>
                <a:cs typeface="Google Sans Flex"/>
              </a:rPr>
              <a:t>Constraints: active RPM/TPM/RPD and account tier unverified. No quota increase.</a:t>
            </a:r>
          </a:p>
          <a:p>
            <a:pPr>
              <a:defRPr sz="1200" b="0">
                <a:solidFill>
                  <a:srgbClr val="000000"/>
                </a:solidFill>
                <a:latin typeface="Google Sans Flex"/>
                <a:ea typeface="Google Sans Flex"/>
                <a:cs typeface="Google Sans Flex"/>
              </a:defRPr>
            </a:pPr>
            <a:r>
              <a:rPr sz="1200" b="0">
                <a:solidFill>
                  <a:srgbClr val="000000"/>
                </a:solidFill>
                <a:latin typeface="Google Sans Flex"/>
                <a:ea typeface="Google Sans Flex"/>
                <a:cs typeface="Google Sans Flex"/>
              </a:rPr>
              <a:t>Free-tier charge is US$0 only if eligible. This run excludes app/HTTP latency, PDF OCR</a:t>
            </a:r>
          </a:p>
          <a:p>
            <a:pPr>
              <a:defRPr sz="1200" b="0">
                <a:solidFill>
                  <a:srgbClr val="000000"/>
                </a:solidFill>
                <a:latin typeface="Google Sans Flex"/>
                <a:ea typeface="Google Sans Flex"/>
                <a:cs typeface="Google Sans Flex"/>
              </a:defRPr>
            </a:pPr>
            <a:r>
              <a:rPr sz="1200" b="0">
                <a:solidFill>
                  <a:srgbClr val="000000"/>
                </a:solidFill>
                <a:latin typeface="Google Sans Flex"/>
                <a:ea typeface="Google Sans Flex"/>
                <a:cs typeface="Google Sans Flex"/>
              </a:rPr>
              <a:t>and concurrent load. Fixture checks do not establish general AI accuracy.</a:t>
            </a:r>
          </a:p>
        </p:txBody>
      </p:sp>
      <p:sp>
        <p:nvSpPr>
          <p:cNvPr id="149" name="18 Oct 2026. macOS arm64, Node 26.11.1. Full environment and meth">
            <a:extLst>
              <a:ext uri="{FF2B5EF4-FFF2-40B4-BE49-F238E27FC236}">
                <ns3:creationId id="{28DFCE2D-059D-4A62-A6DC-043D514D1F5A}"/>
              </a:ext>
            </a:extLst>
          </p:cNvPr>
          <p:cNvSpPr>
            <a:spLocks noGrp="1"/>
          </p:cNvSpPr>
          <p:nvPr/>
        </p:nvSpPr>
        <p:spPr>
          <a:xfrm>
            <a:off x="361950" y="4695825"/>
            <a:ext cx="8429625" cy="209550"/>
          </a:xfrm>
          <a:prstGeom prst="rect">
            <a:avLst/>
          </a:prstGeom>
          <a:noFill/>
          <a:ln w="0">
            <a:noFill/>
          </a:ln>
        </p:spPr>
        <p:txBody>
          <a:bodyPr lIns="0" tIns="0" rIns="0" bIns="0" anchor="t"/>
          <a:lstStyle>
            <a:defPPr>
              <a:defRPr sz="1013" b="0">
                <a:solidFill>
                  <a:srgbClr val="000000"/>
                </a:solidFill>
                <a:latin typeface="Google Sans Flex"/>
                <a:ea typeface="Google Sans Flex"/>
                <a:cs typeface="Google Sans Flex"/>
              </a:defRPr>
            </a:defPPr>
            <a:lvl1pPr>
              <a:defRPr sz="1013" b="0">
                <a:solidFill>
                  <a:srgbClr val="000000"/>
                </a:solidFill>
                <a:latin typeface="Google Sans Flex"/>
                <a:ea typeface="Google Sans Flex"/>
                <a:cs typeface="Google Sans Flex"/>
              </a:defRPr>
            </a:lvl1pPr>
            <a:lvl2pPr>
              <a:defRPr sz="1013" b="0">
                <a:solidFill>
                  <a:srgbClr val="000000"/>
                </a:solidFill>
                <a:latin typeface="Google Sans Flex"/>
                <a:ea typeface="Google Sans Flex"/>
                <a:cs typeface="Google Sans Flex"/>
              </a:defRPr>
            </a:lvl2pPr>
            <a:lvl3pPr>
              <a:defRPr sz="1013" b="0">
                <a:solidFill>
                  <a:srgbClr val="000000"/>
                </a:solidFill>
                <a:latin typeface="Google Sans Flex"/>
                <a:ea typeface="Google Sans Flex"/>
                <a:cs typeface="Google Sans Flex"/>
              </a:defRPr>
            </a:lvl3pPr>
            <a:lvl4pPr>
              <a:defRPr sz="1013" b="0">
                <a:solidFill>
                  <a:srgbClr val="000000"/>
                </a:solidFill>
                <a:latin typeface="Google Sans Flex"/>
                <a:ea typeface="Google Sans Flex"/>
                <a:cs typeface="Google Sans Flex"/>
              </a:defRPr>
            </a:lvl4pPr>
            <a:lvl5pPr>
              <a:defRPr sz="1013" b="0">
                <a:solidFill>
                  <a:srgbClr val="000000"/>
                </a:solidFill>
                <a:latin typeface="Google Sans Flex"/>
                <a:ea typeface="Google Sans Flex"/>
                <a:cs typeface="Google Sans Flex"/>
              </a:defRPr>
            </a:lvl5pPr>
            <a:lvl6pPr>
              <a:defRPr sz="1013" b="0">
                <a:solidFill>
                  <a:srgbClr val="000000"/>
                </a:solidFill>
                <a:latin typeface="Google Sans Flex"/>
                <a:ea typeface="Google Sans Flex"/>
                <a:cs typeface="Google Sans Flex"/>
              </a:defRPr>
            </a:lvl6pPr>
            <a:lvl7pPr>
              <a:defRPr sz="1013" b="0">
                <a:solidFill>
                  <a:srgbClr val="000000"/>
                </a:solidFill>
                <a:latin typeface="Google Sans Flex"/>
                <a:ea typeface="Google Sans Flex"/>
                <a:cs typeface="Google Sans Flex"/>
              </a:defRPr>
            </a:lvl7pPr>
            <a:lvl8pPr>
              <a:defRPr sz="1013" b="0">
                <a:solidFill>
                  <a:srgbClr val="000000"/>
                </a:solidFill>
                <a:latin typeface="Google Sans Flex"/>
                <a:ea typeface="Google Sans Flex"/>
                <a:cs typeface="Google Sans Flex"/>
              </a:defRPr>
            </a:lvl8pPr>
            <a:lvl9pPr>
              <a:defRPr sz="1013" b="0">
                <a:solidFill>
                  <a:srgbClr val="000000"/>
                </a:solidFill>
                <a:latin typeface="Google Sans Flex"/>
                <a:ea typeface="Google Sans Flex"/>
                <a:cs typeface="Google Sans Flex"/>
              </a:defRPr>
            </a:lvl9pPr>
          </a:lstStyle>
          <a:p>
            <a:pPr>
              <a:defRPr sz="1013" b="0">
                <a:solidFill>
                  <a:srgbClr val="000000"/>
                </a:solidFill>
                <a:latin typeface="Google Sans Flex"/>
                <a:ea typeface="Google Sans Flex"/>
                <a:cs typeface="Google Sans Flex"/>
              </a:defRPr>
            </a:pPr>
            <a:r>
              <a:rPr sz="1013" b="0">
                <a:solidFill>
                  <a:srgbClr val="000000"/>
                </a:solidFill>
                <a:latin typeface="Google Sans Flex"/>
                <a:ea typeface="Google Sans Flex"/>
                <a:cs typeface="Google Sans Flex"/>
              </a:rPr>
              <a:t>18 Oct 2026. macOS arm64, Node 26.11.1. Full environment and method in notes. Raw logs in project.</a:t>
            </a:r>
          </a:p>
        </p:txBody>
      </p:sp>
    </p:spTree>
  </p:cSld>
  <p:clrMapOvr>
    <a:masterClrMapping/>
  </p:clrMapOvr>
</p:sld>
</file>

<file path=ppt/slides/slide13.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nvGrpSpPr>
        <p:cNvPr id="1" name=""/>
        <p:cNvGrpSpPr/>
        <p:nvPr/>
      </p:nvGrpSpPr>
      <p:sp>
        <p:nvSpPr>
          <p:cNvPr id="152" name="Available today">
            <a:extLst>
              <a:ext uri="{FF2B5EF4-FFF2-40B4-BE49-F238E27FC236}">
                <ns3:creationId id="{F047E038-B051-421C-8D42-A1D981C128E6}"/>
              </a:ext>
            </a:extLst>
          </p:cNvPr>
          <p:cNvSpPr>
            <a:spLocks noGrp="1"/>
          </p:cNvSpPr>
          <p:nvPr/>
        </p:nvSpPr>
        <p:spPr>
          <a:xfrm>
            <a:off x="361950" y="1438275"/>
            <a:ext cx="82867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Available today</a:t>
            </a:r>
          </a:p>
        </p:txBody>
      </p:sp>
      <p:sp>
        <p:nvSpPr>
          <p:cNvPr id="153" name="Gemini builds activities from a catalog of 17 reusable components">
            <a:extLst>
              <a:ext uri="{FF2B5EF4-FFF2-40B4-BE49-F238E27FC236}">
                <ns3:creationId id="{979ED2CA-CF77-4799-8E3F-F9E19CF9631C}"/>
              </a:ext>
            </a:extLst>
          </p:cNvPr>
          <p:cNvSpPr>
            <a:spLocks noGrp="1"/>
          </p:cNvSpPr>
          <p:nvPr/>
        </p:nvSpPr>
        <p:spPr>
          <a:xfrm>
            <a:off x="361950" y="1724025"/>
            <a:ext cx="82867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Gemini builds activities from a catalog of 17 reusable components. Learners can attach a board to their written explanation.</a:t>
            </a:r>
          </a:p>
        </p:txBody>
      </p:sp>
      <p:sp>
        <p:nvSpPr>
          <p:cNvPr id="154" name="Next: measure the complete learner journey">
            <a:extLst>
              <a:ext uri="{FF2B5EF4-FFF2-40B4-BE49-F238E27FC236}">
                <ns3:creationId id="{1BD2C327-C49A-41A8-9C93-391BC19C7051}"/>
              </a:ext>
            </a:extLst>
          </p:cNvPr>
          <p:cNvSpPr>
            <a:spLocks noGrp="1"/>
          </p:cNvSpPr>
          <p:nvPr/>
        </p:nvSpPr>
        <p:spPr>
          <a:xfrm>
            <a:off x="361950" y="2457450"/>
            <a:ext cx="82867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Next: measure the complete learner journey</a:t>
            </a:r>
          </a:p>
        </p:txBody>
      </p:sp>
      <p:sp>
        <p:nvSpPr>
          <p:cNvPr id="155" name="Instrument app response times, PDF OCR, retries and tokens per co">
            <a:extLst>
              <a:ext uri="{FF2B5EF4-FFF2-40B4-BE49-F238E27FC236}">
                <ns3:creationId id="{EF017E6C-6BEC-4048-A543-FE1AEE89E22A}"/>
              </a:ext>
            </a:extLst>
          </p:cNvPr>
          <p:cNvSpPr>
            <a:spLocks noGrp="1"/>
          </p:cNvSpPr>
          <p:nvPr/>
        </p:nvSpPr>
        <p:spPr>
          <a:xfrm>
            <a:off x="361950" y="2743200"/>
            <a:ext cx="82867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Instrument app response times, PDF OCR, retries and tokens per completed session. Repeat across document sizes and teaching languages.</a:t>
            </a:r>
          </a:p>
        </p:txBody>
      </p:sp>
      <p:sp>
        <p:nvSpPr>
          <p:cNvPr id="156" name="Next: validate learning and expand practice">
            <a:extLst>
              <a:ext uri="{FF2B5EF4-FFF2-40B4-BE49-F238E27FC236}">
                <ns3:creationId id="{1553961A-563D-4073-9F6F-3A09E0647459}"/>
              </a:ext>
            </a:extLst>
          </p:cNvPr>
          <p:cNvSpPr>
            <a:spLocks noGrp="1"/>
          </p:cNvSpPr>
          <p:nvPr/>
        </p:nvSpPr>
        <p:spPr>
          <a:xfrm>
            <a:off x="361950" y="3514725"/>
            <a:ext cx="8286750" cy="257175"/>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Next: validate learning and expand practice</a:t>
            </a:r>
          </a:p>
        </p:txBody>
      </p:sp>
      <p:sp>
        <p:nvSpPr>
          <p:cNvPr id="157" name="Run a learner pilot with independent application tasks. Add focus">
            <a:extLst>
              <a:ext uri="{FF2B5EF4-FFF2-40B4-BE49-F238E27FC236}">
                <ns3:creationId id="{465A4521-706C-4570-A1C0-91247EC81520}"/>
              </a:ext>
            </a:extLst>
          </p:cNvPr>
          <p:cNvSpPr>
            <a:spLocks noGrp="1"/>
          </p:cNvSpPr>
          <p:nvPr/>
        </p:nvSpPr>
        <p:spPr>
          <a:xfrm>
            <a:off x="361950" y="3800475"/>
            <a:ext cx="8286750" cy="542925"/>
          </a:xfrm>
          <a:prstGeom prst="rect">
            <a:avLst/>
          </a:prstGeom>
          <a:noFill/>
          <a:ln w="0">
            <a:noFill/>
          </a:ln>
        </p:spPr>
        <p:txBody>
          <a:bodyPr lIns="0" tIns="0" rIns="0" bIns="0" anchor="t"/>
          <a:lstStyle>
            <a:defPPr>
              <a:defRPr sz="1300" b="0">
                <a:solidFill>
                  <a:srgbClr val="000000"/>
                </a:solidFill>
                <a:latin typeface="Google Sans Flex"/>
                <a:ea typeface="Google Sans Flex"/>
                <a:cs typeface="Google Sans Flex"/>
              </a:defRPr>
            </a:defPPr>
            <a:lvl1pPr>
              <a:defRPr sz="1300" b="0">
                <a:solidFill>
                  <a:srgbClr val="000000"/>
                </a:solidFill>
                <a:latin typeface="Google Sans Flex"/>
                <a:ea typeface="Google Sans Flex"/>
                <a:cs typeface="Google Sans Flex"/>
              </a:defRPr>
            </a:lvl1pPr>
            <a:lvl2pPr>
              <a:defRPr sz="1300" b="0">
                <a:solidFill>
                  <a:srgbClr val="000000"/>
                </a:solidFill>
                <a:latin typeface="Google Sans Flex"/>
                <a:ea typeface="Google Sans Flex"/>
                <a:cs typeface="Google Sans Flex"/>
              </a:defRPr>
            </a:lvl2pPr>
            <a:lvl3pPr>
              <a:defRPr sz="1300" b="0">
                <a:solidFill>
                  <a:srgbClr val="000000"/>
                </a:solidFill>
                <a:latin typeface="Google Sans Flex"/>
                <a:ea typeface="Google Sans Flex"/>
                <a:cs typeface="Google Sans Flex"/>
              </a:defRPr>
            </a:lvl3pPr>
            <a:lvl4pPr>
              <a:defRPr sz="1300" b="0">
                <a:solidFill>
                  <a:srgbClr val="000000"/>
                </a:solidFill>
                <a:latin typeface="Google Sans Flex"/>
                <a:ea typeface="Google Sans Flex"/>
                <a:cs typeface="Google Sans Flex"/>
              </a:defRPr>
            </a:lvl4pPr>
            <a:lvl5pPr>
              <a:defRPr sz="1300" b="0">
                <a:solidFill>
                  <a:srgbClr val="000000"/>
                </a:solidFill>
                <a:latin typeface="Google Sans Flex"/>
                <a:ea typeface="Google Sans Flex"/>
                <a:cs typeface="Google Sans Flex"/>
              </a:defRPr>
            </a:lvl5pPr>
            <a:lvl6pPr>
              <a:defRPr sz="1300" b="0">
                <a:solidFill>
                  <a:srgbClr val="000000"/>
                </a:solidFill>
                <a:latin typeface="Google Sans Flex"/>
                <a:ea typeface="Google Sans Flex"/>
                <a:cs typeface="Google Sans Flex"/>
              </a:defRPr>
            </a:lvl6pPr>
            <a:lvl7pPr>
              <a:defRPr sz="1300" b="0">
                <a:solidFill>
                  <a:srgbClr val="000000"/>
                </a:solidFill>
                <a:latin typeface="Google Sans Flex"/>
                <a:ea typeface="Google Sans Flex"/>
                <a:cs typeface="Google Sans Flex"/>
              </a:defRPr>
            </a:lvl7pPr>
            <a:lvl8pPr>
              <a:defRPr sz="1300" b="0">
                <a:solidFill>
                  <a:srgbClr val="000000"/>
                </a:solidFill>
                <a:latin typeface="Google Sans Flex"/>
                <a:ea typeface="Google Sans Flex"/>
                <a:cs typeface="Google Sans Flex"/>
              </a:defRPr>
            </a:lvl8pPr>
            <a:lvl9pPr>
              <a:defRPr sz="1300" b="0">
                <a:solidFill>
                  <a:srgbClr val="000000"/>
                </a:solidFill>
                <a:latin typeface="Google Sans Flex"/>
                <a:ea typeface="Google Sans Flex"/>
                <a:cs typeface="Google Sans Flex"/>
              </a:defRPr>
            </a:lvl9pPr>
          </a:lstStyle>
          <a:p>
            <a:pPr>
              <a:defRPr sz="1300" b="0">
                <a:solidFill>
                  <a:srgbClr val="000000"/>
                </a:solidFill>
                <a:latin typeface="Google Sans Flex"/>
                <a:ea typeface="Google Sans Flex"/>
                <a:cs typeface="Google Sans Flex"/>
              </a:defRPr>
            </a:pPr>
            <a:r>
              <a:rPr sz="1300" b="0">
                <a:solidFill>
                  <a:srgbClr val="000000"/>
                </a:solidFill>
                <a:latin typeface="Google Sans Flex"/>
                <a:ea typeface="Google Sans Flex"/>
                <a:cs typeface="Google Sans Flex"/>
              </a:rPr>
              <a:t>Run a learner pilot with independent application tasks. Add focused follow-up activities and recurring practice using the shared activity catalog.</a:t>
            </a:r>
          </a:p>
        </p:txBody>
      </p:sp>
    </p:spTree>
  </p:cSld>
  <p:clrMapOvr>
    <a:masterClrMapping/>
  </p:clrMapOvr>
</p:sld>
</file>

<file path=ppt/slides/slide14.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nvGrpSpPr>
        <p:cNvPr id="1" name=""/>
        <p:cNvGrpSpPr/>
        <p:nvPr/>
      </p:nvGrpSpPr>
      <p:sp>
        <p:nvSpPr>
          <p:cNvPr id="160" name="GitHub Public Repository">
            <a:extLst>
              <a:ext uri="{FF2B5EF4-FFF2-40B4-BE49-F238E27FC236}">
                <ns3:creationId id="{E074C6AA-93AE-472D-801E-C70055EC6691}"/>
              </a:ext>
            </a:extLst>
          </p:cNvPr>
          <p:cNvSpPr>
            <a:spLocks noGrp="1"/>
          </p:cNvSpPr>
          <p:nvPr/>
        </p:nvSpPr>
        <p:spPr>
          <a:xfrm>
            <a:off x="361950" y="2400300"/>
            <a:ext cx="8429625" cy="247650"/>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GitHub Public Repository</a:t>
            </a:r>
          </a:p>
        </p:txBody>
      </p:sp>
      <p:sp>
        <p:nvSpPr>
          <p:cNvPr id="161" name="https://github.com/kyawoo-23/teach-milo">
            <a:extLst>
              <a:ext uri="{FF2B5EF4-FFF2-40B4-BE49-F238E27FC236}">
                <ns3:creationId id="{1FA82E2A-5EDD-4EF0-8258-CF7919089382}"/>
              </a:ext>
            </a:extLst>
          </p:cNvPr>
          <p:cNvSpPr>
            <a:spLocks noGrp="1"/>
          </p:cNvSpPr>
          <p:nvPr/>
        </p:nvSpPr>
        <p:spPr>
          <a:xfrm>
            <a:off x="361950" y="2705100"/>
            <a:ext cx="8429625" cy="285750"/>
          </a:xfrm>
          <a:prstGeom prst="rect">
            <a:avLst/>
          </a:prstGeom>
          <a:noFill/>
          <a:ln w="0">
            <a:noFill/>
          </a:ln>
        </p:spPr>
        <p:txBody>
          <a:bodyPr lIns="0" tIns="0" rIns="0" bIns="0" anchor="t"/>
          <a:lstStyle>
            <a:defPPr>
              <a:defRPr sz="1350" b="0">
                <a:solidFill>
                  <a:srgbClr val="000000"/>
                </a:solidFill>
                <a:latin typeface="Google Sans Flex"/>
                <a:ea typeface="Google Sans Flex"/>
                <a:cs typeface="Google Sans Flex"/>
              </a:defRPr>
            </a:defPPr>
            <a:lvl1pPr>
              <a:defRPr sz="1350" b="0">
                <a:solidFill>
                  <a:srgbClr val="000000"/>
                </a:solidFill>
                <a:latin typeface="Google Sans Flex"/>
                <a:ea typeface="Google Sans Flex"/>
                <a:cs typeface="Google Sans Flex"/>
              </a:defRPr>
            </a:lvl1pPr>
            <a:lvl2pPr>
              <a:defRPr sz="1350" b="0">
                <a:solidFill>
                  <a:srgbClr val="000000"/>
                </a:solidFill>
                <a:latin typeface="Google Sans Flex"/>
                <a:ea typeface="Google Sans Flex"/>
                <a:cs typeface="Google Sans Flex"/>
              </a:defRPr>
            </a:lvl2pPr>
            <a:lvl3pPr>
              <a:defRPr sz="1350" b="0">
                <a:solidFill>
                  <a:srgbClr val="000000"/>
                </a:solidFill>
                <a:latin typeface="Google Sans Flex"/>
                <a:ea typeface="Google Sans Flex"/>
                <a:cs typeface="Google Sans Flex"/>
              </a:defRPr>
            </a:lvl3pPr>
            <a:lvl4pPr>
              <a:defRPr sz="1350" b="0">
                <a:solidFill>
                  <a:srgbClr val="000000"/>
                </a:solidFill>
                <a:latin typeface="Google Sans Flex"/>
                <a:ea typeface="Google Sans Flex"/>
                <a:cs typeface="Google Sans Flex"/>
              </a:defRPr>
            </a:lvl4pPr>
            <a:lvl5pPr>
              <a:defRPr sz="1350" b="0">
                <a:solidFill>
                  <a:srgbClr val="000000"/>
                </a:solidFill>
                <a:latin typeface="Google Sans Flex"/>
                <a:ea typeface="Google Sans Flex"/>
                <a:cs typeface="Google Sans Flex"/>
              </a:defRPr>
            </a:lvl5pPr>
            <a:lvl6pPr>
              <a:defRPr sz="1350" b="0">
                <a:solidFill>
                  <a:srgbClr val="000000"/>
                </a:solidFill>
                <a:latin typeface="Google Sans Flex"/>
                <a:ea typeface="Google Sans Flex"/>
                <a:cs typeface="Google Sans Flex"/>
              </a:defRPr>
            </a:lvl6pPr>
            <a:lvl7pPr>
              <a:defRPr sz="1350" b="0">
                <a:solidFill>
                  <a:srgbClr val="000000"/>
                </a:solidFill>
                <a:latin typeface="Google Sans Flex"/>
                <a:ea typeface="Google Sans Flex"/>
                <a:cs typeface="Google Sans Flex"/>
              </a:defRPr>
            </a:lvl7pPr>
            <a:lvl8pPr>
              <a:defRPr sz="1350" b="0">
                <a:solidFill>
                  <a:srgbClr val="000000"/>
                </a:solidFill>
                <a:latin typeface="Google Sans Flex"/>
                <a:ea typeface="Google Sans Flex"/>
                <a:cs typeface="Google Sans Flex"/>
              </a:defRPr>
            </a:lvl8pPr>
            <a:lvl9pPr>
              <a:defRPr sz="1350" b="0">
                <a:solidFill>
                  <a:srgbClr val="000000"/>
                </a:solidFill>
                <a:latin typeface="Google Sans Flex"/>
                <a:ea typeface="Google Sans Flex"/>
                <a:cs typeface="Google Sans Flex"/>
              </a:defRPr>
            </a:lvl9pPr>
          </a:lstStyle>
          <a:p>
            <a:pPr>
              <a:defRPr sz="1350" b="0">
                <a:solidFill>
                  <a:srgbClr val="000000"/>
                </a:solidFill>
                <a:latin typeface="Google Sans Flex"/>
                <a:ea typeface="Google Sans Flex"/>
                <a:cs typeface="Google Sans Flex"/>
              </a:defRPr>
            </a:pPr>
            <a:r>
              <a:rPr sz="1350" b="0">
                <a:solidFill>
                  <a:srgbClr val="000000"/>
                </a:solidFill>
                <a:latin typeface="Google Sans Flex"/>
                <a:ea typeface="Google Sans Flex"/>
                <a:cs typeface="Google Sans Flex"/>
              </a:rPr>
              <a:t>https://github.com/kyawoo-23/teach-milo</a:t>
            </a:r>
          </a:p>
        </p:txBody>
      </p:sp>
      <p:sp>
        <p:nvSpPr>
          <p:cNvPr id="162" name="Demo Video Link (3 Minutes)">
            <a:extLst>
              <a:ext uri="{FF2B5EF4-FFF2-40B4-BE49-F238E27FC236}">
                <ns3:creationId id="{8E203A3B-3A21-486A-B0E4-684A87DA4C01}"/>
              </a:ext>
            </a:extLst>
          </p:cNvPr>
          <p:cNvSpPr>
            <a:spLocks noGrp="1"/>
          </p:cNvSpPr>
          <p:nvPr/>
        </p:nvSpPr>
        <p:spPr>
          <a:xfrm>
            <a:off x="361950" y="3209925"/>
            <a:ext cx="8429625" cy="247650"/>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Demo Video Link (3 Minutes)</a:t>
            </a:r>
          </a:p>
        </p:txBody>
      </p:sp>
      <p:sp>
        <p:nvSpPr>
          <p:cNvPr id="163" name="To be added by the team">
            <a:extLst>
              <a:ext uri="{FF2B5EF4-FFF2-40B4-BE49-F238E27FC236}">
                <ns3:creationId id="{037BA3D0-0C19-48F5-A927-C61A19F593A3}"/>
              </a:ext>
            </a:extLst>
          </p:cNvPr>
          <p:cNvSpPr>
            <a:spLocks noGrp="1"/>
          </p:cNvSpPr>
          <p:nvPr/>
        </p:nvSpPr>
        <p:spPr>
          <a:xfrm>
            <a:off x="361950" y="3514725"/>
            <a:ext cx="8429625" cy="285750"/>
          </a:xfrm>
          <a:prstGeom prst="rect">
            <a:avLst/>
          </a:prstGeom>
          <a:noFill/>
          <a:ln w="0">
            <a:noFill/>
          </a:ln>
        </p:spPr>
        <p:txBody>
          <a:bodyPr lIns="0" tIns="0" rIns="0" bIns="0" anchor="t"/>
          <a:lstStyle>
            <a:defPPr>
              <a:defRPr sz="1350" b="0">
                <a:solidFill>
                  <a:srgbClr val="000000"/>
                </a:solidFill>
                <a:latin typeface="Google Sans Flex"/>
                <a:ea typeface="Google Sans Flex"/>
                <a:cs typeface="Google Sans Flex"/>
              </a:defRPr>
            </a:defPPr>
            <a:lvl1pPr>
              <a:defRPr sz="1350" b="0">
                <a:solidFill>
                  <a:srgbClr val="000000"/>
                </a:solidFill>
                <a:latin typeface="Google Sans Flex"/>
                <a:ea typeface="Google Sans Flex"/>
                <a:cs typeface="Google Sans Flex"/>
              </a:defRPr>
            </a:lvl1pPr>
            <a:lvl2pPr>
              <a:defRPr sz="1350" b="0">
                <a:solidFill>
                  <a:srgbClr val="000000"/>
                </a:solidFill>
                <a:latin typeface="Google Sans Flex"/>
                <a:ea typeface="Google Sans Flex"/>
                <a:cs typeface="Google Sans Flex"/>
              </a:defRPr>
            </a:lvl2pPr>
            <a:lvl3pPr>
              <a:defRPr sz="1350" b="0">
                <a:solidFill>
                  <a:srgbClr val="000000"/>
                </a:solidFill>
                <a:latin typeface="Google Sans Flex"/>
                <a:ea typeface="Google Sans Flex"/>
                <a:cs typeface="Google Sans Flex"/>
              </a:defRPr>
            </a:lvl3pPr>
            <a:lvl4pPr>
              <a:defRPr sz="1350" b="0">
                <a:solidFill>
                  <a:srgbClr val="000000"/>
                </a:solidFill>
                <a:latin typeface="Google Sans Flex"/>
                <a:ea typeface="Google Sans Flex"/>
                <a:cs typeface="Google Sans Flex"/>
              </a:defRPr>
            </a:lvl4pPr>
            <a:lvl5pPr>
              <a:defRPr sz="1350" b="0">
                <a:solidFill>
                  <a:srgbClr val="000000"/>
                </a:solidFill>
                <a:latin typeface="Google Sans Flex"/>
                <a:ea typeface="Google Sans Flex"/>
                <a:cs typeface="Google Sans Flex"/>
              </a:defRPr>
            </a:lvl5pPr>
            <a:lvl6pPr>
              <a:defRPr sz="1350" b="0">
                <a:solidFill>
                  <a:srgbClr val="000000"/>
                </a:solidFill>
                <a:latin typeface="Google Sans Flex"/>
                <a:ea typeface="Google Sans Flex"/>
                <a:cs typeface="Google Sans Flex"/>
              </a:defRPr>
            </a:lvl6pPr>
            <a:lvl7pPr>
              <a:defRPr sz="1350" b="0">
                <a:solidFill>
                  <a:srgbClr val="000000"/>
                </a:solidFill>
                <a:latin typeface="Google Sans Flex"/>
                <a:ea typeface="Google Sans Flex"/>
                <a:cs typeface="Google Sans Flex"/>
              </a:defRPr>
            </a:lvl7pPr>
            <a:lvl8pPr>
              <a:defRPr sz="1350" b="0">
                <a:solidFill>
                  <a:srgbClr val="000000"/>
                </a:solidFill>
                <a:latin typeface="Google Sans Flex"/>
                <a:ea typeface="Google Sans Flex"/>
                <a:cs typeface="Google Sans Flex"/>
              </a:defRPr>
            </a:lvl8pPr>
            <a:lvl9pPr>
              <a:defRPr sz="1350" b="0">
                <a:solidFill>
                  <a:srgbClr val="000000"/>
                </a:solidFill>
                <a:latin typeface="Google Sans Flex"/>
                <a:ea typeface="Google Sans Flex"/>
                <a:cs typeface="Google Sans Flex"/>
              </a:defRPr>
            </a:lvl9pPr>
          </a:lstStyle>
          <a:p>
            <a:pPr>
              <a:defRPr sz="1350" b="0">
                <a:solidFill>
                  <a:srgbClr val="000000"/>
                </a:solidFill>
                <a:latin typeface="Google Sans Flex"/>
                <a:ea typeface="Google Sans Flex"/>
                <a:cs typeface="Google Sans Flex"/>
              </a:defRPr>
            </a:pPr>
            <a:r>
              <a:rPr sz="1350" b="0">
                <a:solidFill>
                  <a:srgbClr val="000000"/>
                </a:solidFill>
                <a:latin typeface="Google Sans Flex"/>
                <a:ea typeface="Google Sans Flex"/>
                <a:cs typeface="Google Sans Flex"/>
              </a:rPr>
              <a:t>To be added by the team</a:t>
            </a:r>
          </a:p>
        </p:txBody>
      </p:sp>
      <p:sp>
        <p:nvSpPr>
          <p:cNvPr id="164" name="Final Product Link">
            <a:extLst>
              <a:ext uri="{FF2B5EF4-FFF2-40B4-BE49-F238E27FC236}">
                <ns3:creationId id="{90D9F225-9196-4FCB-9521-A3B32237FA93}"/>
              </a:ext>
            </a:extLst>
          </p:cNvPr>
          <p:cNvSpPr>
            <a:spLocks noGrp="1"/>
          </p:cNvSpPr>
          <p:nvPr/>
        </p:nvSpPr>
        <p:spPr>
          <a:xfrm>
            <a:off x="361950" y="4010025"/>
            <a:ext cx="8429625" cy="247650"/>
          </a:xfrm>
          <a:prstGeom prst="rect">
            <a:avLst/>
          </a:prstGeom>
          <a:noFill/>
          <a:ln w="0">
            <a:noFill/>
          </a:ln>
        </p:spPr>
        <p:txBody>
          <a:bodyPr lIns="0" tIns="0" rIns="0" bIns="0" anchor="t"/>
          <a:lstStyle>
            <a:defPPr>
              <a:defRPr sz="1350" b="1">
                <a:solidFill>
                  <a:srgbClr val="000000"/>
                </a:solidFill>
                <a:latin typeface="Google Sans Flex"/>
                <a:ea typeface="Google Sans Flex"/>
                <a:cs typeface="Google Sans Flex"/>
              </a:defRPr>
            </a:defPPr>
            <a:lvl1pPr>
              <a:defRPr sz="1350" b="1">
                <a:solidFill>
                  <a:srgbClr val="000000"/>
                </a:solidFill>
                <a:latin typeface="Google Sans Flex"/>
                <a:ea typeface="Google Sans Flex"/>
                <a:cs typeface="Google Sans Flex"/>
              </a:defRPr>
            </a:lvl1pPr>
            <a:lvl2pPr>
              <a:defRPr sz="1350" b="1">
                <a:solidFill>
                  <a:srgbClr val="000000"/>
                </a:solidFill>
                <a:latin typeface="Google Sans Flex"/>
                <a:ea typeface="Google Sans Flex"/>
                <a:cs typeface="Google Sans Flex"/>
              </a:defRPr>
            </a:lvl2pPr>
            <a:lvl3pPr>
              <a:defRPr sz="1350" b="1">
                <a:solidFill>
                  <a:srgbClr val="000000"/>
                </a:solidFill>
                <a:latin typeface="Google Sans Flex"/>
                <a:ea typeface="Google Sans Flex"/>
                <a:cs typeface="Google Sans Flex"/>
              </a:defRPr>
            </a:lvl3pPr>
            <a:lvl4pPr>
              <a:defRPr sz="1350" b="1">
                <a:solidFill>
                  <a:srgbClr val="000000"/>
                </a:solidFill>
                <a:latin typeface="Google Sans Flex"/>
                <a:ea typeface="Google Sans Flex"/>
                <a:cs typeface="Google Sans Flex"/>
              </a:defRPr>
            </a:lvl4pPr>
            <a:lvl5pPr>
              <a:defRPr sz="1350" b="1">
                <a:solidFill>
                  <a:srgbClr val="000000"/>
                </a:solidFill>
                <a:latin typeface="Google Sans Flex"/>
                <a:ea typeface="Google Sans Flex"/>
                <a:cs typeface="Google Sans Flex"/>
              </a:defRPr>
            </a:lvl5pPr>
            <a:lvl6pPr>
              <a:defRPr sz="1350" b="1">
                <a:solidFill>
                  <a:srgbClr val="000000"/>
                </a:solidFill>
                <a:latin typeface="Google Sans Flex"/>
                <a:ea typeface="Google Sans Flex"/>
                <a:cs typeface="Google Sans Flex"/>
              </a:defRPr>
            </a:lvl6pPr>
            <a:lvl7pPr>
              <a:defRPr sz="1350" b="1">
                <a:solidFill>
                  <a:srgbClr val="000000"/>
                </a:solidFill>
                <a:latin typeface="Google Sans Flex"/>
                <a:ea typeface="Google Sans Flex"/>
                <a:cs typeface="Google Sans Flex"/>
              </a:defRPr>
            </a:lvl7pPr>
            <a:lvl8pPr>
              <a:defRPr sz="1350" b="1">
                <a:solidFill>
                  <a:srgbClr val="000000"/>
                </a:solidFill>
                <a:latin typeface="Google Sans Flex"/>
                <a:ea typeface="Google Sans Flex"/>
                <a:cs typeface="Google Sans Flex"/>
              </a:defRPr>
            </a:lvl8pPr>
            <a:lvl9pPr>
              <a:defRPr sz="1350" b="1">
                <a:solidFill>
                  <a:srgbClr val="000000"/>
                </a:solidFill>
                <a:latin typeface="Google Sans Flex"/>
                <a:ea typeface="Google Sans Flex"/>
                <a:cs typeface="Google Sans Flex"/>
              </a:defRPr>
            </a:lvl9pPr>
          </a:lstStyle>
          <a:p>
            <a:pPr>
              <a:defRPr sz="1350" b="1">
                <a:solidFill>
                  <a:srgbClr val="000000"/>
                </a:solidFill>
                <a:latin typeface="Google Sans Flex"/>
                <a:ea typeface="Google Sans Flex"/>
                <a:cs typeface="Google Sans Flex"/>
              </a:defRPr>
            </a:pPr>
            <a:r>
              <a:rPr sz="1350" b="1">
                <a:solidFill>
                  <a:srgbClr val="000000"/>
                </a:solidFill>
                <a:latin typeface="Google Sans Flex"/>
                <a:ea typeface="Google Sans Flex"/>
                <a:cs typeface="Google Sans Flex"/>
              </a:rPr>
              <a:t>Final Product Link</a:t>
            </a:r>
          </a:p>
        </p:txBody>
      </p:sp>
      <p:sp>
        <p:nvSpPr>
          <p:cNvPr id="165" name="https://teach-milo-86758133633.asia-southeast1.run.app/">
            <a:extLst>
              <a:ext uri="{FF2B5EF4-FFF2-40B4-BE49-F238E27FC236}">
                <ns3:creationId id="{5F8EC554-A9B7-4425-A060-05E34CD796D8}"/>
              </a:ext>
            </a:extLst>
          </p:cNvPr>
          <p:cNvSpPr>
            <a:spLocks noGrp="1"/>
          </p:cNvSpPr>
          <p:nvPr/>
        </p:nvSpPr>
        <p:spPr>
          <a:xfrm>
            <a:off x="361950" y="4314825"/>
            <a:ext cx="8429625" cy="333375"/>
          </a:xfrm>
          <a:prstGeom prst="rect">
            <a:avLst/>
          </a:prstGeom>
          <a:noFill/>
          <a:ln w="0">
            <a:noFill/>
          </a:ln>
        </p:spPr>
        <p:txBody>
          <a:bodyPr lIns="0" tIns="0" rIns="0" bIns="0" anchor="t"/>
          <a:lstStyle>
            <a:defPPr>
              <a:defRPr sz="1350" b="0">
                <a:solidFill>
                  <a:srgbClr val="000000"/>
                </a:solidFill>
                <a:latin typeface="Google Sans Flex"/>
                <a:ea typeface="Google Sans Flex"/>
                <a:cs typeface="Google Sans Flex"/>
              </a:defRPr>
            </a:defPPr>
            <a:lvl1pPr>
              <a:defRPr sz="1350" b="0">
                <a:solidFill>
                  <a:srgbClr val="000000"/>
                </a:solidFill>
                <a:latin typeface="Google Sans Flex"/>
                <a:ea typeface="Google Sans Flex"/>
                <a:cs typeface="Google Sans Flex"/>
              </a:defRPr>
            </a:lvl1pPr>
            <a:lvl2pPr>
              <a:defRPr sz="1350" b="0">
                <a:solidFill>
                  <a:srgbClr val="000000"/>
                </a:solidFill>
                <a:latin typeface="Google Sans Flex"/>
                <a:ea typeface="Google Sans Flex"/>
                <a:cs typeface="Google Sans Flex"/>
              </a:defRPr>
            </a:lvl2pPr>
            <a:lvl3pPr>
              <a:defRPr sz="1350" b="0">
                <a:solidFill>
                  <a:srgbClr val="000000"/>
                </a:solidFill>
                <a:latin typeface="Google Sans Flex"/>
                <a:ea typeface="Google Sans Flex"/>
                <a:cs typeface="Google Sans Flex"/>
              </a:defRPr>
            </a:lvl3pPr>
            <a:lvl4pPr>
              <a:defRPr sz="1350" b="0">
                <a:solidFill>
                  <a:srgbClr val="000000"/>
                </a:solidFill>
                <a:latin typeface="Google Sans Flex"/>
                <a:ea typeface="Google Sans Flex"/>
                <a:cs typeface="Google Sans Flex"/>
              </a:defRPr>
            </a:lvl4pPr>
            <a:lvl5pPr>
              <a:defRPr sz="1350" b="0">
                <a:solidFill>
                  <a:srgbClr val="000000"/>
                </a:solidFill>
                <a:latin typeface="Google Sans Flex"/>
                <a:ea typeface="Google Sans Flex"/>
                <a:cs typeface="Google Sans Flex"/>
              </a:defRPr>
            </a:lvl5pPr>
            <a:lvl6pPr>
              <a:defRPr sz="1350" b="0">
                <a:solidFill>
                  <a:srgbClr val="000000"/>
                </a:solidFill>
                <a:latin typeface="Google Sans Flex"/>
                <a:ea typeface="Google Sans Flex"/>
                <a:cs typeface="Google Sans Flex"/>
              </a:defRPr>
            </a:lvl6pPr>
            <a:lvl7pPr>
              <a:defRPr sz="1350" b="0">
                <a:solidFill>
                  <a:srgbClr val="000000"/>
                </a:solidFill>
                <a:latin typeface="Google Sans Flex"/>
                <a:ea typeface="Google Sans Flex"/>
                <a:cs typeface="Google Sans Flex"/>
              </a:defRPr>
            </a:lvl7pPr>
            <a:lvl8pPr>
              <a:defRPr sz="1350" b="0">
                <a:solidFill>
                  <a:srgbClr val="000000"/>
                </a:solidFill>
                <a:latin typeface="Google Sans Flex"/>
                <a:ea typeface="Google Sans Flex"/>
                <a:cs typeface="Google Sans Flex"/>
              </a:defRPr>
            </a:lvl8pPr>
            <a:lvl9pPr>
              <a:defRPr sz="1350" b="0">
                <a:solidFill>
                  <a:srgbClr val="000000"/>
                </a:solidFill>
                <a:latin typeface="Google Sans Flex"/>
                <a:ea typeface="Google Sans Flex"/>
                <a:cs typeface="Google Sans Flex"/>
              </a:defRPr>
            </a:lvl9pPr>
          </a:lstStyle>
          <a:p>
            <a:pPr>
              <a:defRPr sz="1350" b="0">
                <a:solidFill>
                  <a:srgbClr val="000000"/>
                </a:solidFill>
                <a:latin typeface="Google Sans Flex"/>
                <a:ea typeface="Google Sans Flex"/>
                <a:cs typeface="Google Sans Flex"/>
              </a:defRPr>
            </a:pPr>
            <a:r>
              <a:rPr sz="1350" b="0">
                <a:solidFill>
                  <a:srgbClr val="000000"/>
                </a:solidFill>
                <a:latin typeface="Google Sans Flex"/>
                <a:ea typeface="Google Sans Flex"/>
                <a:cs typeface="Google Sans Flex"/>
              </a:rPr>
              <a:t>https://teach-milo-86758133633.asia-southeast1.run.app/</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